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alibri" panose="020F0502020204030204" pitchFamily="34" charset="0"/>
      <p:regular r:id="rId13"/>
      <p:bold r:id="rId14"/>
      <p:italic r:id="rId15"/>
      <p:boldItalic r:id="rId16"/>
    </p:embeddedFont>
  </p:embeddedFontLst>
  <p:defaultTextStyle>
    <a:defPPr>
      <a:defRPr lang="ru-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2744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9.png"/><Relationship Id="rId7" Type="http://schemas.openxmlformats.org/officeDocument/2006/relationships/image" Target="../media/image12.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3" Type="http://schemas.openxmlformats.org/officeDocument/2006/relationships/image" Target="../media/image13.png"/><Relationship Id="rId7" Type="http://schemas.openxmlformats.org/officeDocument/2006/relationships/image" Target="../media/image16.svg"/><Relationship Id="rId12"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svg"/><Relationship Id="rId10" Type="http://schemas.openxmlformats.org/officeDocument/2006/relationships/image" Target="../media/image19.png"/><Relationship Id="rId4" Type="http://schemas.openxmlformats.org/officeDocument/2006/relationships/image" Target="../media/image3.png"/><Relationship Id="rId9" Type="http://schemas.openxmlformats.org/officeDocument/2006/relationships/image" Target="../media/image18.svg"/><Relationship Id="rId1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28.sv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image" Target="../media/image25.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3798" y="2384584"/>
            <a:ext cx="7416403" cy="1840587"/>
          </a:xfrm>
          <a:prstGeom prst="rect">
            <a:avLst/>
          </a:prstGeom>
          <a:noFill/>
          <a:ln/>
        </p:spPr>
        <p:txBody>
          <a:bodyPr wrap="square" lIns="0" tIns="0" rIns="0" bIns="0" rtlCol="0" anchor="t"/>
          <a:lstStyle/>
          <a:p>
            <a:pPr marL="0" indent="0" algn="l">
              <a:lnSpc>
                <a:spcPts val="4800"/>
              </a:lnSpc>
              <a:buNone/>
            </a:pPr>
            <a:r>
              <a:rPr lang="en-US" sz="3850" b="1" dirty="0">
                <a:solidFill>
                  <a:srgbClr val="000000"/>
                </a:solidFill>
                <a:latin typeface="Times New Roman" panose="02020603050405020304" pitchFamily="18" charset="0"/>
                <a:ea typeface="Montserrat Bold" pitchFamily="34" charset="-122"/>
                <a:cs typeface="Times New Roman" panose="02020603050405020304" pitchFamily="18" charset="0"/>
              </a:rPr>
              <a:t>Майбутнє ШІ у 2026 році: Чого чекати після проривів 2025?</a:t>
            </a:r>
            <a:endParaRPr lang="en-US" sz="3850" dirty="0">
              <a:latin typeface="Times New Roman" panose="02020603050405020304" pitchFamily="18" charset="0"/>
              <a:cs typeface="Times New Roman" panose="02020603050405020304" pitchFamily="18" charset="0"/>
            </a:endParaRPr>
          </a:p>
        </p:txBody>
      </p:sp>
      <p:sp>
        <p:nvSpPr>
          <p:cNvPr id="4" name="Text 1"/>
          <p:cNvSpPr/>
          <p:nvPr/>
        </p:nvSpPr>
        <p:spPr>
          <a:xfrm>
            <a:off x="863798" y="4549021"/>
            <a:ext cx="7416403" cy="1295876"/>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Ласкаво просимо до нашої презентації, присвяченої прогнозам розвитку штучного інтелекту у 2026 році. Ми зануримось у захопливий світ інновацій, що чекають на нас після значних проривів 2025 року, та дослідимо, як ці зміни вплинуть на наше життя, бізнес та суспільство загалом.</a:t>
            </a:r>
            <a:endParaRPr lang="en-US" sz="1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3798" y="1042749"/>
            <a:ext cx="12902803" cy="1227058"/>
          </a:xfrm>
          <a:prstGeom prst="rect">
            <a:avLst/>
          </a:prstGeom>
          <a:noFill/>
          <a:ln/>
        </p:spPr>
        <p:txBody>
          <a:bodyPr wrap="square" lIns="0" tIns="0" rIns="0" bIns="0" rtlCol="0" anchor="t"/>
          <a:lstStyle/>
          <a:p>
            <a:pPr marL="0" indent="0" algn="l">
              <a:lnSpc>
                <a:spcPts val="4800"/>
              </a:lnSpc>
              <a:buNone/>
            </a:pPr>
            <a:r>
              <a:rPr lang="en-US" sz="3850" b="1" dirty="0">
                <a:solidFill>
                  <a:srgbClr val="000000"/>
                </a:solidFill>
                <a:latin typeface="Times New Roman" panose="02020603050405020304" pitchFamily="18" charset="0"/>
                <a:ea typeface="Montserrat Bold" pitchFamily="34" charset="-122"/>
                <a:cs typeface="Times New Roman" panose="02020603050405020304" pitchFamily="18" charset="0"/>
              </a:rPr>
              <a:t>Огляд 2025: Ключові прориви та неочікувані результати ШІ</a:t>
            </a:r>
            <a:endParaRPr lang="en-US" sz="3850" dirty="0">
              <a:latin typeface="Times New Roman" panose="02020603050405020304" pitchFamily="18" charset="0"/>
              <a:cs typeface="Times New Roman" panose="02020603050405020304" pitchFamily="18" charset="0"/>
            </a:endParaRPr>
          </a:p>
        </p:txBody>
      </p:sp>
      <p:sp>
        <p:nvSpPr>
          <p:cNvPr id="3" name="Text 1"/>
          <p:cNvSpPr/>
          <p:nvPr/>
        </p:nvSpPr>
        <p:spPr>
          <a:xfrm>
            <a:off x="863798" y="2701647"/>
            <a:ext cx="12902803" cy="971907"/>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2025 рік став переломним для розвитку штучного інтелекту, принісши низку надзвичайних проривів, які перевершили найсміливіші очікування. Ми побачили значне покращення у здатності ШІ до навчання без нагляду, що дозволило моделям самостійно освоювати складні завдання з мінімальним втручанням людини.</a:t>
            </a:r>
            <a:endParaRPr lang="en-US" sz="1700" dirty="0">
              <a:latin typeface="Times New Roman" panose="02020603050405020304" pitchFamily="18" charset="0"/>
              <a:cs typeface="Times New Roman" panose="02020603050405020304" pitchFamily="18" charset="0"/>
            </a:endParaRPr>
          </a:p>
        </p:txBody>
      </p:sp>
      <p:sp>
        <p:nvSpPr>
          <p:cNvPr id="4" name="Shape 2"/>
          <p:cNvSpPr/>
          <p:nvPr/>
        </p:nvSpPr>
        <p:spPr>
          <a:xfrm>
            <a:off x="863798" y="3916442"/>
            <a:ext cx="4156948" cy="2379583"/>
          </a:xfrm>
          <a:prstGeom prst="roundRect">
            <a:avLst>
              <a:gd name="adj" fmla="val 1361"/>
            </a:avLst>
          </a:prstGeom>
          <a:solidFill>
            <a:srgbClr val="F2EEEE"/>
          </a:solidFill>
          <a:ln/>
        </p:spPr>
      </p:sp>
      <p:sp>
        <p:nvSpPr>
          <p:cNvPr id="5" name="Shape 3"/>
          <p:cNvSpPr/>
          <p:nvPr/>
        </p:nvSpPr>
        <p:spPr>
          <a:xfrm>
            <a:off x="1079659" y="4132302"/>
            <a:ext cx="647819" cy="647819"/>
          </a:xfrm>
          <a:prstGeom prst="roundRect">
            <a:avLst>
              <a:gd name="adj" fmla="val 14113642"/>
            </a:avLst>
          </a:prstGeom>
          <a:solidFill>
            <a:srgbClr val="2D2E34"/>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57776" y="4310420"/>
            <a:ext cx="291465" cy="291465"/>
          </a:xfrm>
          <a:prstGeom prst="rect">
            <a:avLst/>
          </a:prstGeom>
        </p:spPr>
      </p:pic>
      <p:sp>
        <p:nvSpPr>
          <p:cNvPr id="7" name="Text 4"/>
          <p:cNvSpPr/>
          <p:nvPr/>
        </p:nvSpPr>
        <p:spPr>
          <a:xfrm>
            <a:off x="1079659" y="4995982"/>
            <a:ext cx="3297674"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Times New Roman" panose="02020603050405020304" pitchFamily="18" charset="0"/>
                <a:ea typeface="Montserrat Bold" pitchFamily="34" charset="-122"/>
                <a:cs typeface="Times New Roman" panose="02020603050405020304" pitchFamily="18" charset="0"/>
              </a:rPr>
              <a:t>Самостійне навчання ШІ</a:t>
            </a:r>
            <a:endParaRPr lang="en-US" sz="1900" dirty="0">
              <a:latin typeface="Times New Roman" panose="02020603050405020304" pitchFamily="18" charset="0"/>
              <a:cs typeface="Times New Roman" panose="02020603050405020304" pitchFamily="18" charset="0"/>
            </a:endParaRPr>
          </a:p>
        </p:txBody>
      </p:sp>
      <p:sp>
        <p:nvSpPr>
          <p:cNvPr id="8" name="Text 5"/>
          <p:cNvSpPr/>
          <p:nvPr/>
        </p:nvSpPr>
        <p:spPr>
          <a:xfrm>
            <a:off x="1079659" y="5432227"/>
            <a:ext cx="3725228" cy="647938"/>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Значне покращення алгоритмів навчання без нагляду.</a:t>
            </a:r>
            <a:endParaRPr lang="en-US" sz="1700" dirty="0">
              <a:latin typeface="Times New Roman" panose="02020603050405020304" pitchFamily="18" charset="0"/>
              <a:cs typeface="Times New Roman" panose="02020603050405020304" pitchFamily="18" charset="0"/>
            </a:endParaRPr>
          </a:p>
        </p:txBody>
      </p:sp>
      <p:sp>
        <p:nvSpPr>
          <p:cNvPr id="9" name="Shape 6"/>
          <p:cNvSpPr/>
          <p:nvPr/>
        </p:nvSpPr>
        <p:spPr>
          <a:xfrm>
            <a:off x="5236607" y="3916442"/>
            <a:ext cx="4157067" cy="2379583"/>
          </a:xfrm>
          <a:prstGeom prst="roundRect">
            <a:avLst>
              <a:gd name="adj" fmla="val 1361"/>
            </a:avLst>
          </a:prstGeom>
          <a:solidFill>
            <a:srgbClr val="F2EEEE"/>
          </a:solidFill>
          <a:ln/>
        </p:spPr>
      </p:sp>
      <p:sp>
        <p:nvSpPr>
          <p:cNvPr id="10" name="Shape 7"/>
          <p:cNvSpPr/>
          <p:nvPr/>
        </p:nvSpPr>
        <p:spPr>
          <a:xfrm>
            <a:off x="5452467" y="4132302"/>
            <a:ext cx="647819" cy="647819"/>
          </a:xfrm>
          <a:prstGeom prst="roundRect">
            <a:avLst>
              <a:gd name="adj" fmla="val 14113642"/>
            </a:avLst>
          </a:prstGeom>
          <a:solidFill>
            <a:srgbClr val="2D2E34"/>
          </a:solidFill>
          <a:ln/>
        </p:spPr>
      </p:sp>
      <p:pic>
        <p:nvPicPr>
          <p:cNvPr id="11" name="Image 1"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5630585" y="4310420"/>
            <a:ext cx="291465" cy="291465"/>
          </a:xfrm>
          <a:prstGeom prst="rect">
            <a:avLst/>
          </a:prstGeom>
        </p:spPr>
      </p:pic>
      <p:sp>
        <p:nvSpPr>
          <p:cNvPr id="12" name="Text 8"/>
          <p:cNvSpPr/>
          <p:nvPr/>
        </p:nvSpPr>
        <p:spPr>
          <a:xfrm>
            <a:off x="5452467" y="4995982"/>
            <a:ext cx="2545913"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Times New Roman" panose="02020603050405020304" pitchFamily="18" charset="0"/>
                <a:ea typeface="Montserrat Bold" pitchFamily="34" charset="-122"/>
                <a:cs typeface="Times New Roman" panose="02020603050405020304" pitchFamily="18" charset="0"/>
              </a:rPr>
              <a:t>Творчий потенціал</a:t>
            </a:r>
            <a:endParaRPr lang="en-US" sz="1900" dirty="0">
              <a:latin typeface="Times New Roman" panose="02020603050405020304" pitchFamily="18" charset="0"/>
              <a:cs typeface="Times New Roman" panose="02020603050405020304" pitchFamily="18" charset="0"/>
            </a:endParaRPr>
          </a:p>
        </p:txBody>
      </p:sp>
      <p:sp>
        <p:nvSpPr>
          <p:cNvPr id="13" name="Text 9"/>
          <p:cNvSpPr/>
          <p:nvPr/>
        </p:nvSpPr>
        <p:spPr>
          <a:xfrm>
            <a:off x="5452467" y="5432227"/>
            <a:ext cx="3725347" cy="647938"/>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Прориви у генерації текстів, зображень та музики.</a:t>
            </a:r>
            <a:endParaRPr lang="en-US" sz="1700" dirty="0">
              <a:latin typeface="Times New Roman" panose="02020603050405020304" pitchFamily="18" charset="0"/>
              <a:cs typeface="Times New Roman" panose="02020603050405020304" pitchFamily="18" charset="0"/>
            </a:endParaRPr>
          </a:p>
        </p:txBody>
      </p:sp>
      <p:sp>
        <p:nvSpPr>
          <p:cNvPr id="14" name="Shape 10"/>
          <p:cNvSpPr/>
          <p:nvPr/>
        </p:nvSpPr>
        <p:spPr>
          <a:xfrm>
            <a:off x="9609534" y="3916442"/>
            <a:ext cx="4157067" cy="2379583"/>
          </a:xfrm>
          <a:prstGeom prst="roundRect">
            <a:avLst>
              <a:gd name="adj" fmla="val 1361"/>
            </a:avLst>
          </a:prstGeom>
          <a:solidFill>
            <a:srgbClr val="F2EEEE"/>
          </a:solidFill>
          <a:ln/>
        </p:spPr>
      </p:sp>
      <p:sp>
        <p:nvSpPr>
          <p:cNvPr id="15" name="Shape 11"/>
          <p:cNvSpPr/>
          <p:nvPr/>
        </p:nvSpPr>
        <p:spPr>
          <a:xfrm>
            <a:off x="9825395" y="4132302"/>
            <a:ext cx="647819" cy="647819"/>
          </a:xfrm>
          <a:prstGeom prst="roundRect">
            <a:avLst>
              <a:gd name="adj" fmla="val 14113642"/>
            </a:avLst>
          </a:prstGeom>
          <a:solidFill>
            <a:srgbClr val="2D2E34"/>
          </a:solidFill>
          <a:ln/>
        </p:spPr>
      </p:sp>
      <p:pic>
        <p:nvPicPr>
          <p:cNvPr id="16" name="Image 2" descr="preencoded.png"/>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10003512" y="4310420"/>
            <a:ext cx="291465" cy="291465"/>
          </a:xfrm>
          <a:prstGeom prst="rect">
            <a:avLst/>
          </a:prstGeom>
        </p:spPr>
      </p:pic>
      <p:sp>
        <p:nvSpPr>
          <p:cNvPr id="17" name="Text 12"/>
          <p:cNvSpPr/>
          <p:nvPr/>
        </p:nvSpPr>
        <p:spPr>
          <a:xfrm>
            <a:off x="9825395" y="4995982"/>
            <a:ext cx="2845713"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Times New Roman" panose="02020603050405020304" pitchFamily="18" charset="0"/>
                <a:ea typeface="Montserrat Bold" pitchFamily="34" charset="-122"/>
                <a:cs typeface="Times New Roman" panose="02020603050405020304" pitchFamily="18" charset="0"/>
              </a:rPr>
              <a:t>Квантові обчислення</a:t>
            </a:r>
            <a:endParaRPr lang="en-US" sz="1900" dirty="0">
              <a:latin typeface="Times New Roman" panose="02020603050405020304" pitchFamily="18" charset="0"/>
              <a:cs typeface="Times New Roman" panose="02020603050405020304" pitchFamily="18" charset="0"/>
            </a:endParaRPr>
          </a:p>
        </p:txBody>
      </p:sp>
      <p:sp>
        <p:nvSpPr>
          <p:cNvPr id="18" name="Text 13"/>
          <p:cNvSpPr/>
          <p:nvPr/>
        </p:nvSpPr>
        <p:spPr>
          <a:xfrm>
            <a:off x="9825395" y="5432227"/>
            <a:ext cx="3725347" cy="647938"/>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Прискорення розвитку ШІ завдяки новим обчислювальним потужностям.</a:t>
            </a:r>
            <a:endParaRPr lang="en-US" sz="1700" dirty="0">
              <a:latin typeface="Times New Roman" panose="02020603050405020304" pitchFamily="18" charset="0"/>
              <a:cs typeface="Times New Roman" panose="02020603050405020304" pitchFamily="18" charset="0"/>
            </a:endParaRPr>
          </a:p>
        </p:txBody>
      </p:sp>
      <p:sp>
        <p:nvSpPr>
          <p:cNvPr id="19" name="Text 14"/>
          <p:cNvSpPr/>
          <p:nvPr/>
        </p:nvSpPr>
        <p:spPr>
          <a:xfrm>
            <a:off x="863798" y="6538913"/>
            <a:ext cx="12902803" cy="647938"/>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Несподівано, ми також спостерігали виникнення нових етичних дилем, пов'язаних з автономністю ШІ та його впливом на людську креативність.</a:t>
            </a:r>
            <a:endParaRPr lang="en-US" sz="1700" dirty="0">
              <a:latin typeface="Times New Roman" panose="02020603050405020304" pitchFamily="18" charset="0"/>
              <a:cs typeface="Times New Roman" panose="02020603050405020304" pitchFamily="18" charset="0"/>
            </a:endParaRPr>
          </a:p>
        </p:txBody>
      </p:sp>
      <p:pic>
        <p:nvPicPr>
          <p:cNvPr id="21" name="Рисунок 20">
            <a:extLst>
              <a:ext uri="{FF2B5EF4-FFF2-40B4-BE49-F238E27FC236}">
                <a16:creationId xmlns:a16="http://schemas.microsoft.com/office/drawing/2014/main" id="{D8B84985-AF22-4DA3-BEE1-A9C028C6C2CC}"/>
              </a:ext>
            </a:extLst>
          </p:cNvPr>
          <p:cNvPicPr>
            <a:picLocks noChangeAspect="1"/>
          </p:cNvPicPr>
          <p:nvPr/>
        </p:nvPicPr>
        <p:blipFill>
          <a:blip r:embed="rId7"/>
          <a:stretch>
            <a:fillRect/>
          </a:stretch>
        </p:blipFill>
        <p:spPr>
          <a:xfrm>
            <a:off x="12502901" y="7772360"/>
            <a:ext cx="2095682" cy="4572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99041" y="536972"/>
            <a:ext cx="12832199" cy="1109186"/>
          </a:xfrm>
          <a:prstGeom prst="rect">
            <a:avLst/>
          </a:prstGeom>
          <a:noFill/>
          <a:ln/>
        </p:spPr>
        <p:txBody>
          <a:bodyPr wrap="square" lIns="0" tIns="0" rIns="0" bIns="0" rtlCol="0" anchor="t"/>
          <a:lstStyle/>
          <a:p>
            <a:pPr marL="0" indent="0" algn="l">
              <a:lnSpc>
                <a:spcPts val="4350"/>
              </a:lnSpc>
              <a:buNone/>
            </a:pPr>
            <a:r>
              <a:rPr lang="en-US" sz="3450" b="1" dirty="0">
                <a:solidFill>
                  <a:srgbClr val="000000"/>
                </a:solidFill>
                <a:latin typeface="Times New Roman" panose="02020603050405020304" pitchFamily="18" charset="0"/>
                <a:ea typeface="Montserrat Bold" pitchFamily="34" charset="-122"/>
                <a:cs typeface="Times New Roman" panose="02020603050405020304" pitchFamily="18" charset="0"/>
              </a:rPr>
              <a:t>Фундаментальні зміни: Як ШІ переформатує бізнес та суспільство</a:t>
            </a:r>
            <a:endParaRPr lang="en-US" sz="3450" dirty="0">
              <a:latin typeface="Times New Roman" panose="02020603050405020304" pitchFamily="18" charset="0"/>
              <a:cs typeface="Times New Roman" panose="02020603050405020304" pitchFamily="18" charset="0"/>
            </a:endParaRPr>
          </a:p>
        </p:txBody>
      </p:sp>
      <p:sp>
        <p:nvSpPr>
          <p:cNvPr id="3" name="Text 1"/>
          <p:cNvSpPr/>
          <p:nvPr/>
        </p:nvSpPr>
        <p:spPr>
          <a:xfrm>
            <a:off x="899041" y="2036683"/>
            <a:ext cx="12832199" cy="878681"/>
          </a:xfrm>
          <a:prstGeom prst="rect">
            <a:avLst/>
          </a:prstGeom>
          <a:noFill/>
          <a:ln/>
        </p:spPr>
        <p:txBody>
          <a:bodyPr wrap="square" lIns="0" tIns="0" rIns="0" bIns="0" rtlCol="0" anchor="t"/>
          <a:lstStyle/>
          <a:p>
            <a:pPr marL="0" indent="0" algn="l">
              <a:lnSpc>
                <a:spcPts val="2300"/>
              </a:lnSpc>
              <a:buNone/>
            </a:pPr>
            <a:r>
              <a:rPr lang="en-US" sz="1500" dirty="0">
                <a:solidFill>
                  <a:srgbClr val="3D3838"/>
                </a:solidFill>
                <a:latin typeface="Times New Roman" panose="02020603050405020304" pitchFamily="18" charset="0"/>
                <a:ea typeface="Source Sans 3" pitchFamily="34" charset="-122"/>
                <a:cs typeface="Times New Roman" panose="02020603050405020304" pitchFamily="18" charset="0"/>
              </a:rPr>
              <a:t>Прориви 2025 року заклали основу для фундаментальних змін у бізнес-моделях та соціальних структурах. Автоматизація вийшла на новий рівень, трансформуючи виробничі процеси, логістику та навіть сферу послуг. Компанії, які інтегрували ШІ у свої операції, продемонстрували експоненціальне зростання ефективності та конкурентоспроможності.</a:t>
            </a:r>
            <a:endParaRPr lang="en-US" sz="150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899041" y="3354705"/>
            <a:ext cx="6177915" cy="4118610"/>
          </a:xfrm>
          <a:prstGeom prst="rect">
            <a:avLst/>
          </a:prstGeom>
        </p:spPr>
      </p:pic>
      <p:sp>
        <p:nvSpPr>
          <p:cNvPr id="5" name="Text 2"/>
          <p:cNvSpPr/>
          <p:nvPr/>
        </p:nvSpPr>
        <p:spPr>
          <a:xfrm>
            <a:off x="7560826" y="3310771"/>
            <a:ext cx="6177915" cy="1464469"/>
          </a:xfrm>
          <a:prstGeom prst="rect">
            <a:avLst/>
          </a:prstGeom>
          <a:noFill/>
          <a:ln/>
        </p:spPr>
        <p:txBody>
          <a:bodyPr wrap="square" lIns="0" tIns="0" rIns="0" bIns="0" rtlCol="0" anchor="t"/>
          <a:lstStyle/>
          <a:p>
            <a:pPr marL="0" indent="0" algn="l">
              <a:lnSpc>
                <a:spcPts val="2300"/>
              </a:lnSpc>
              <a:buNone/>
            </a:pPr>
            <a:r>
              <a:rPr lang="en-US" sz="1500" dirty="0">
                <a:solidFill>
                  <a:srgbClr val="3D3838"/>
                </a:solidFill>
                <a:latin typeface="Times New Roman" panose="02020603050405020304" pitchFamily="18" charset="0"/>
                <a:ea typeface="Source Sans 3" pitchFamily="34" charset="-122"/>
                <a:cs typeface="Times New Roman" panose="02020603050405020304" pitchFamily="18" charset="0"/>
              </a:rPr>
              <a:t>У суспільстві ШІ почав відігравати ключову роль у персоналізації освіти, медицини та навіть державних послуг, створюючи більш адаптовані та доступні рішення для кожного громадянина. Однак, це також спричинило дебати щодо приватності даних та необхідності переосмислення соціальних норм.</a:t>
            </a:r>
            <a:endParaRPr lang="en-US" sz="1500" dirty="0">
              <a:latin typeface="Times New Roman" panose="02020603050405020304" pitchFamily="18" charset="0"/>
              <a:cs typeface="Times New Roman" panose="02020603050405020304" pitchFamily="18" charset="0"/>
            </a:endParaRPr>
          </a:p>
        </p:txBody>
      </p:sp>
      <p:sp>
        <p:nvSpPr>
          <p:cNvPr id="6" name="Text 3"/>
          <p:cNvSpPr/>
          <p:nvPr/>
        </p:nvSpPr>
        <p:spPr>
          <a:xfrm>
            <a:off x="7560826" y="4950976"/>
            <a:ext cx="6177915" cy="292894"/>
          </a:xfrm>
          <a:prstGeom prst="rect">
            <a:avLst/>
          </a:prstGeom>
          <a:noFill/>
          <a:ln/>
        </p:spPr>
        <p:txBody>
          <a:bodyPr wrap="none" lIns="0" tIns="0" rIns="0" bIns="0" rtlCol="0" anchor="t"/>
          <a:lstStyle/>
          <a:p>
            <a:pPr marL="342900" indent="-342900" algn="l">
              <a:lnSpc>
                <a:spcPts val="2300"/>
              </a:lnSpc>
              <a:buSzPct val="100000"/>
              <a:buChar char="•"/>
            </a:pPr>
            <a:r>
              <a:rPr lang="en-US" sz="1500" b="1" dirty="0">
                <a:solidFill>
                  <a:srgbClr val="3D3838"/>
                </a:solidFill>
                <a:latin typeface="Times New Roman" panose="02020603050405020304" pitchFamily="18" charset="0"/>
                <a:ea typeface="Source Sans 3" pitchFamily="34" charset="-122"/>
                <a:cs typeface="Times New Roman" panose="02020603050405020304" pitchFamily="18" charset="0"/>
              </a:rPr>
              <a:t>Бізнес:</a:t>
            </a:r>
            <a:r>
              <a:rPr lang="en-US" sz="1500" dirty="0">
                <a:solidFill>
                  <a:srgbClr val="3D3838"/>
                </a:solidFill>
                <a:latin typeface="Times New Roman" panose="02020603050405020304" pitchFamily="18" charset="0"/>
                <a:ea typeface="Source Sans 3" pitchFamily="34" charset="-122"/>
                <a:cs typeface="Times New Roman" panose="02020603050405020304" pitchFamily="18" charset="0"/>
              </a:rPr>
              <a:t> Оптимізація процесів, аналітика, нові продукти.</a:t>
            </a:r>
            <a:endParaRPr lang="en-US" sz="1500" dirty="0">
              <a:latin typeface="Times New Roman" panose="02020603050405020304" pitchFamily="18" charset="0"/>
              <a:cs typeface="Times New Roman" panose="02020603050405020304" pitchFamily="18" charset="0"/>
            </a:endParaRPr>
          </a:p>
        </p:txBody>
      </p:sp>
      <p:sp>
        <p:nvSpPr>
          <p:cNvPr id="7" name="Text 4"/>
          <p:cNvSpPr/>
          <p:nvPr/>
        </p:nvSpPr>
        <p:spPr>
          <a:xfrm>
            <a:off x="7560826" y="5312212"/>
            <a:ext cx="6177915" cy="292894"/>
          </a:xfrm>
          <a:prstGeom prst="rect">
            <a:avLst/>
          </a:prstGeom>
          <a:noFill/>
          <a:ln/>
        </p:spPr>
        <p:txBody>
          <a:bodyPr wrap="none" lIns="0" tIns="0" rIns="0" bIns="0" rtlCol="0" anchor="t"/>
          <a:lstStyle/>
          <a:p>
            <a:pPr marL="342900" indent="-342900" algn="l">
              <a:lnSpc>
                <a:spcPts val="2300"/>
              </a:lnSpc>
              <a:buSzPct val="100000"/>
              <a:buChar char="•"/>
            </a:pPr>
            <a:r>
              <a:rPr lang="en-US" sz="1500" b="1" dirty="0">
                <a:solidFill>
                  <a:srgbClr val="3D3838"/>
                </a:solidFill>
                <a:latin typeface="Times New Roman" panose="02020603050405020304" pitchFamily="18" charset="0"/>
                <a:ea typeface="Source Sans 3" pitchFamily="34" charset="-122"/>
                <a:cs typeface="Times New Roman" panose="02020603050405020304" pitchFamily="18" charset="0"/>
              </a:rPr>
              <a:t>Соціум:</a:t>
            </a:r>
            <a:r>
              <a:rPr lang="en-US" sz="1500" dirty="0">
                <a:solidFill>
                  <a:srgbClr val="3D3838"/>
                </a:solidFill>
                <a:latin typeface="Times New Roman" panose="02020603050405020304" pitchFamily="18" charset="0"/>
                <a:ea typeface="Source Sans 3" pitchFamily="34" charset="-122"/>
                <a:cs typeface="Times New Roman" panose="02020603050405020304" pitchFamily="18" charset="0"/>
              </a:rPr>
              <a:t> Персоналізовані послуги, доступність інформації.</a:t>
            </a:r>
            <a:endParaRPr lang="en-US" sz="1500" dirty="0">
              <a:latin typeface="Times New Roman" panose="02020603050405020304" pitchFamily="18" charset="0"/>
              <a:cs typeface="Times New Roman" panose="02020603050405020304" pitchFamily="18" charset="0"/>
            </a:endParaRPr>
          </a:p>
        </p:txBody>
      </p:sp>
      <p:sp>
        <p:nvSpPr>
          <p:cNvPr id="8" name="Text 5"/>
          <p:cNvSpPr/>
          <p:nvPr/>
        </p:nvSpPr>
        <p:spPr>
          <a:xfrm>
            <a:off x="7560826" y="5673447"/>
            <a:ext cx="6177915" cy="292894"/>
          </a:xfrm>
          <a:prstGeom prst="rect">
            <a:avLst/>
          </a:prstGeom>
          <a:noFill/>
          <a:ln/>
        </p:spPr>
        <p:txBody>
          <a:bodyPr wrap="none" lIns="0" tIns="0" rIns="0" bIns="0" rtlCol="0" anchor="t"/>
          <a:lstStyle/>
          <a:p>
            <a:pPr marL="342900" indent="-342900" algn="l">
              <a:lnSpc>
                <a:spcPts val="2300"/>
              </a:lnSpc>
              <a:buSzPct val="100000"/>
              <a:buChar char="•"/>
            </a:pPr>
            <a:r>
              <a:rPr lang="en-US" sz="1500" b="1" dirty="0">
                <a:solidFill>
                  <a:srgbClr val="3D3838"/>
                </a:solidFill>
                <a:latin typeface="Times New Roman" panose="02020603050405020304" pitchFamily="18" charset="0"/>
                <a:ea typeface="Source Sans 3" pitchFamily="34" charset="-122"/>
                <a:cs typeface="Times New Roman" panose="02020603050405020304" pitchFamily="18" charset="0"/>
              </a:rPr>
              <a:t>Економіка:</a:t>
            </a:r>
            <a:r>
              <a:rPr lang="en-US" sz="1500" dirty="0">
                <a:solidFill>
                  <a:srgbClr val="3D3838"/>
                </a:solidFill>
                <a:latin typeface="Times New Roman" panose="02020603050405020304" pitchFamily="18" charset="0"/>
                <a:ea typeface="Source Sans 3" pitchFamily="34" charset="-122"/>
                <a:cs typeface="Times New Roman" panose="02020603050405020304" pitchFamily="18" charset="0"/>
              </a:rPr>
              <a:t> Зростання продуктивності, поява нових ринків.</a:t>
            </a:r>
            <a:endParaRPr lang="en-US" sz="1500" dirty="0">
              <a:latin typeface="Times New Roman" panose="02020603050405020304" pitchFamily="18" charset="0"/>
              <a:cs typeface="Times New Roman" panose="02020603050405020304" pitchFamily="18" charset="0"/>
            </a:endParaRPr>
          </a:p>
        </p:txBody>
      </p:sp>
      <p:pic>
        <p:nvPicPr>
          <p:cNvPr id="9" name="Рисунок 8">
            <a:extLst>
              <a:ext uri="{FF2B5EF4-FFF2-40B4-BE49-F238E27FC236}">
                <a16:creationId xmlns:a16="http://schemas.microsoft.com/office/drawing/2014/main" id="{79181880-AED7-48A4-8F5D-5DB35D791905}"/>
              </a:ext>
            </a:extLst>
          </p:cNvPr>
          <p:cNvPicPr>
            <a:picLocks noChangeAspect="1"/>
          </p:cNvPicPr>
          <p:nvPr/>
        </p:nvPicPr>
        <p:blipFill>
          <a:blip r:embed="rId4"/>
          <a:stretch>
            <a:fillRect/>
          </a:stretch>
        </p:blipFill>
        <p:spPr>
          <a:xfrm>
            <a:off x="12502901" y="7772360"/>
            <a:ext cx="2095682" cy="4572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215515"/>
          </a:xfrm>
          <a:prstGeom prst="rect">
            <a:avLst/>
          </a:prstGeom>
        </p:spPr>
      </p:pic>
      <p:sp>
        <p:nvSpPr>
          <p:cNvPr id="3" name="Text 0"/>
          <p:cNvSpPr/>
          <p:nvPr/>
        </p:nvSpPr>
        <p:spPr>
          <a:xfrm>
            <a:off x="1491377" y="2841308"/>
            <a:ext cx="11647527" cy="1006792"/>
          </a:xfrm>
          <a:prstGeom prst="rect">
            <a:avLst/>
          </a:prstGeom>
          <a:noFill/>
          <a:ln/>
        </p:spPr>
        <p:txBody>
          <a:bodyPr wrap="square" lIns="0" tIns="0" rIns="0" bIns="0" rtlCol="0" anchor="t"/>
          <a:lstStyle/>
          <a:p>
            <a:pPr marL="0" indent="0" algn="l">
              <a:lnSpc>
                <a:spcPts val="3950"/>
              </a:lnSpc>
              <a:buNone/>
            </a:pPr>
            <a:r>
              <a:rPr lang="en-US" sz="3150" b="1" dirty="0">
                <a:solidFill>
                  <a:srgbClr val="000000"/>
                </a:solidFill>
                <a:latin typeface="Times New Roman" panose="02020603050405020304" pitchFamily="18" charset="0"/>
                <a:ea typeface="Montserrat Bold" pitchFamily="34" charset="-122"/>
                <a:cs typeface="Times New Roman" panose="02020603050405020304" pitchFamily="18" charset="0"/>
              </a:rPr>
              <a:t>Розвиток AGI (Штучного Загального Інтелекту): Чи стане 2026 роком переходу?</a:t>
            </a:r>
            <a:endParaRPr lang="en-US" sz="3150" dirty="0">
              <a:latin typeface="Times New Roman" panose="02020603050405020304" pitchFamily="18" charset="0"/>
              <a:cs typeface="Times New Roman" panose="02020603050405020304" pitchFamily="18" charset="0"/>
            </a:endParaRPr>
          </a:p>
        </p:txBody>
      </p:sp>
      <p:sp>
        <p:nvSpPr>
          <p:cNvPr id="4" name="Text 1"/>
          <p:cNvSpPr/>
          <p:nvPr/>
        </p:nvSpPr>
        <p:spPr>
          <a:xfrm>
            <a:off x="1491377" y="4113967"/>
            <a:ext cx="11647527" cy="531733"/>
          </a:xfrm>
          <a:prstGeom prst="rect">
            <a:avLst/>
          </a:prstGeom>
          <a:noFill/>
          <a:ln/>
        </p:spPr>
        <p:txBody>
          <a:bodyPr wrap="square" lIns="0" tIns="0" rIns="0" bIns="0" rtlCol="0" anchor="t"/>
          <a:lstStyle/>
          <a:p>
            <a:pPr marL="0" indent="0" algn="l">
              <a:lnSpc>
                <a:spcPts val="2050"/>
              </a:lnSpc>
              <a:buNone/>
            </a:pPr>
            <a:r>
              <a:rPr lang="en-US" sz="1350" dirty="0">
                <a:solidFill>
                  <a:srgbClr val="3D3838"/>
                </a:solidFill>
                <a:latin typeface="Times New Roman" panose="02020603050405020304" pitchFamily="18" charset="0"/>
                <a:ea typeface="Source Sans 3" pitchFamily="34" charset="-122"/>
                <a:cs typeface="Times New Roman" panose="02020603050405020304" pitchFamily="18" charset="0"/>
              </a:rPr>
              <a:t>Питання про наближення AGI (Штучного Загального Інтелекту) стає все більш актуальним. Після досягнень 2025 року, коли ШІ продемонстрував здатність до вирішення широкого кола завдань, які раніше вважалися виключно людськими, 2026 рік може стати вирішальним.</a:t>
            </a:r>
            <a:endParaRPr lang="en-US" sz="1350" dirty="0">
              <a:latin typeface="Times New Roman" panose="02020603050405020304" pitchFamily="18" charset="0"/>
              <a:cs typeface="Times New Roman" panose="02020603050405020304" pitchFamily="18" charset="0"/>
            </a:endParaRPr>
          </a:p>
        </p:txBody>
      </p:sp>
      <p:sp>
        <p:nvSpPr>
          <p:cNvPr id="5" name="Shape 2"/>
          <p:cNvSpPr/>
          <p:nvPr/>
        </p:nvSpPr>
        <p:spPr>
          <a:xfrm>
            <a:off x="1491377" y="4845010"/>
            <a:ext cx="3764399" cy="531733"/>
          </a:xfrm>
          <a:prstGeom prst="roundRect">
            <a:avLst>
              <a:gd name="adj" fmla="val 480005"/>
            </a:avLst>
          </a:prstGeom>
          <a:solidFill>
            <a:srgbClr val="F2EEEE"/>
          </a:solidFill>
          <a:ln/>
        </p:spPr>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40643" y="4977884"/>
            <a:ext cx="265867" cy="265867"/>
          </a:xfrm>
          <a:prstGeom prst="rect">
            <a:avLst/>
          </a:prstGeom>
        </p:spPr>
      </p:pic>
      <p:sp>
        <p:nvSpPr>
          <p:cNvPr id="7" name="Text 3"/>
          <p:cNvSpPr/>
          <p:nvPr/>
        </p:nvSpPr>
        <p:spPr>
          <a:xfrm>
            <a:off x="1668542" y="5553908"/>
            <a:ext cx="2995255" cy="251817"/>
          </a:xfrm>
          <a:prstGeom prst="rect">
            <a:avLst/>
          </a:prstGeom>
          <a:noFill/>
          <a:ln/>
        </p:spPr>
        <p:txBody>
          <a:bodyPr wrap="none" lIns="0" tIns="0" rIns="0" bIns="0" rtlCol="0" anchor="t"/>
          <a:lstStyle/>
          <a:p>
            <a:pPr marL="0" indent="0" algn="l">
              <a:lnSpc>
                <a:spcPts val="1950"/>
              </a:lnSpc>
              <a:buNone/>
            </a:pPr>
            <a:r>
              <a:rPr lang="en-US" sz="1550" b="1" dirty="0">
                <a:solidFill>
                  <a:srgbClr val="3D3838"/>
                </a:solidFill>
                <a:latin typeface="Times New Roman" panose="02020603050405020304" pitchFamily="18" charset="0"/>
                <a:ea typeface="Montserrat Bold" pitchFamily="34" charset="-122"/>
                <a:cs typeface="Times New Roman" panose="02020603050405020304" pitchFamily="18" charset="0"/>
              </a:rPr>
              <a:t>Навчання в реальному часі</a:t>
            </a:r>
            <a:endParaRPr lang="en-US" sz="1550" dirty="0">
              <a:latin typeface="Times New Roman" panose="02020603050405020304" pitchFamily="18" charset="0"/>
              <a:cs typeface="Times New Roman" panose="02020603050405020304" pitchFamily="18" charset="0"/>
            </a:endParaRPr>
          </a:p>
        </p:txBody>
      </p:sp>
      <p:sp>
        <p:nvSpPr>
          <p:cNvPr id="8" name="Text 4"/>
          <p:cNvSpPr/>
          <p:nvPr/>
        </p:nvSpPr>
        <p:spPr>
          <a:xfrm>
            <a:off x="1668542" y="5912048"/>
            <a:ext cx="3410069" cy="531733"/>
          </a:xfrm>
          <a:prstGeom prst="rect">
            <a:avLst/>
          </a:prstGeom>
          <a:noFill/>
          <a:ln/>
        </p:spPr>
        <p:txBody>
          <a:bodyPr wrap="square" lIns="0" tIns="0" rIns="0" bIns="0" rtlCol="0" anchor="t"/>
          <a:lstStyle/>
          <a:p>
            <a:pPr marL="0" indent="0" algn="l">
              <a:lnSpc>
                <a:spcPts val="2050"/>
              </a:lnSpc>
              <a:buNone/>
            </a:pPr>
            <a:r>
              <a:rPr lang="en-US" sz="1350" dirty="0">
                <a:solidFill>
                  <a:srgbClr val="3D3838"/>
                </a:solidFill>
                <a:latin typeface="Times New Roman" panose="02020603050405020304" pitchFamily="18" charset="0"/>
                <a:ea typeface="Source Sans 3" pitchFamily="34" charset="-122"/>
                <a:cs typeface="Times New Roman" panose="02020603050405020304" pitchFamily="18" charset="0"/>
              </a:rPr>
              <a:t>Здатність ШІ адаптуватися та навчатися безперервно в динамічному середовищі.</a:t>
            </a:r>
            <a:endParaRPr lang="en-US" sz="1350" dirty="0">
              <a:latin typeface="Times New Roman" panose="02020603050405020304" pitchFamily="18" charset="0"/>
              <a:cs typeface="Times New Roman" panose="02020603050405020304" pitchFamily="18" charset="0"/>
            </a:endParaRPr>
          </a:p>
        </p:txBody>
      </p:sp>
      <p:sp>
        <p:nvSpPr>
          <p:cNvPr id="9" name="Shape 5"/>
          <p:cNvSpPr/>
          <p:nvPr/>
        </p:nvSpPr>
        <p:spPr>
          <a:xfrm>
            <a:off x="5432941" y="4845010"/>
            <a:ext cx="3764399" cy="531733"/>
          </a:xfrm>
          <a:prstGeom prst="roundRect">
            <a:avLst>
              <a:gd name="adj" fmla="val 480005"/>
            </a:avLst>
          </a:prstGeom>
          <a:solidFill>
            <a:srgbClr val="F2EEEE"/>
          </a:solidFill>
          <a:ln/>
        </p:spPr>
      </p:sp>
      <p:pic>
        <p:nvPicPr>
          <p:cNvPr id="10" name="Image 2" descr="preencoded.png"/>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a:off x="7182207" y="4977884"/>
            <a:ext cx="265867" cy="265867"/>
          </a:xfrm>
          <a:prstGeom prst="rect">
            <a:avLst/>
          </a:prstGeom>
        </p:spPr>
      </p:pic>
      <p:sp>
        <p:nvSpPr>
          <p:cNvPr id="11" name="Text 6"/>
          <p:cNvSpPr/>
          <p:nvPr/>
        </p:nvSpPr>
        <p:spPr>
          <a:xfrm>
            <a:off x="5610106" y="5553908"/>
            <a:ext cx="3410069" cy="503634"/>
          </a:xfrm>
          <a:prstGeom prst="rect">
            <a:avLst/>
          </a:prstGeom>
          <a:noFill/>
          <a:ln/>
        </p:spPr>
        <p:txBody>
          <a:bodyPr wrap="square" lIns="0" tIns="0" rIns="0" bIns="0" rtlCol="0" anchor="t"/>
          <a:lstStyle/>
          <a:p>
            <a:pPr marL="0" indent="0" algn="l">
              <a:lnSpc>
                <a:spcPts val="1950"/>
              </a:lnSpc>
              <a:buNone/>
            </a:pPr>
            <a:r>
              <a:rPr lang="en-US" sz="1550" b="1" dirty="0">
                <a:solidFill>
                  <a:srgbClr val="3D3838"/>
                </a:solidFill>
                <a:latin typeface="Times New Roman" panose="02020603050405020304" pitchFamily="18" charset="0"/>
                <a:ea typeface="Montserrat Bold" pitchFamily="34" charset="-122"/>
                <a:cs typeface="Times New Roman" panose="02020603050405020304" pitchFamily="18" charset="0"/>
              </a:rPr>
              <a:t>Інтердисциплінарне мислення</a:t>
            </a:r>
            <a:endParaRPr lang="en-US" sz="1550" dirty="0">
              <a:latin typeface="Times New Roman" panose="02020603050405020304" pitchFamily="18" charset="0"/>
              <a:cs typeface="Times New Roman" panose="02020603050405020304" pitchFamily="18" charset="0"/>
            </a:endParaRPr>
          </a:p>
        </p:txBody>
      </p:sp>
      <p:sp>
        <p:nvSpPr>
          <p:cNvPr id="12" name="Text 7"/>
          <p:cNvSpPr/>
          <p:nvPr/>
        </p:nvSpPr>
        <p:spPr>
          <a:xfrm>
            <a:off x="5610106" y="6163866"/>
            <a:ext cx="3410069" cy="531733"/>
          </a:xfrm>
          <a:prstGeom prst="rect">
            <a:avLst/>
          </a:prstGeom>
          <a:noFill/>
          <a:ln/>
        </p:spPr>
        <p:txBody>
          <a:bodyPr wrap="square" lIns="0" tIns="0" rIns="0" bIns="0" rtlCol="0" anchor="t"/>
          <a:lstStyle/>
          <a:p>
            <a:pPr marL="0" indent="0" algn="l">
              <a:lnSpc>
                <a:spcPts val="2050"/>
              </a:lnSpc>
              <a:buNone/>
            </a:pPr>
            <a:r>
              <a:rPr lang="en-US" sz="1350" dirty="0">
                <a:solidFill>
                  <a:srgbClr val="3D3838"/>
                </a:solidFill>
                <a:latin typeface="Times New Roman" panose="02020603050405020304" pitchFamily="18" charset="0"/>
                <a:ea typeface="Source Sans 3" pitchFamily="34" charset="-122"/>
                <a:cs typeface="Times New Roman" panose="02020603050405020304" pitchFamily="18" charset="0"/>
              </a:rPr>
              <a:t>Інтеграція знань з різних галузей для комплексного вирішення проблем.</a:t>
            </a:r>
            <a:endParaRPr lang="en-US" sz="1350" dirty="0">
              <a:latin typeface="Times New Roman" panose="02020603050405020304" pitchFamily="18" charset="0"/>
              <a:cs typeface="Times New Roman" panose="02020603050405020304" pitchFamily="18" charset="0"/>
            </a:endParaRPr>
          </a:p>
        </p:txBody>
      </p:sp>
      <p:sp>
        <p:nvSpPr>
          <p:cNvPr id="13" name="Shape 8"/>
          <p:cNvSpPr/>
          <p:nvPr/>
        </p:nvSpPr>
        <p:spPr>
          <a:xfrm>
            <a:off x="9374505" y="4845010"/>
            <a:ext cx="3764399" cy="531733"/>
          </a:xfrm>
          <a:prstGeom prst="roundRect">
            <a:avLst>
              <a:gd name="adj" fmla="val 480005"/>
            </a:avLst>
          </a:prstGeom>
          <a:solidFill>
            <a:srgbClr val="F2EEEE"/>
          </a:solidFill>
          <a:ln/>
        </p:spPr>
      </p:sp>
      <p:pic>
        <p:nvPicPr>
          <p:cNvPr id="14" name="Image 3" descr="preencoded.png"/>
          <p:cNvPicPr>
            <a:picLocks noChangeAspect="1"/>
          </p:cNvPicPr>
          <p:nvPr/>
        </p:nvPicPr>
        <p:blipFill>
          <a:blip r:embed="rId4">
            <a:extLst>
              <a:ext uri="{96DAC541-7B7A-43D3-8B79-37D633B846F1}">
                <asvg:svgBlip xmlns:asvg="http://schemas.microsoft.com/office/drawing/2016/SVG/main" r:embed="rId7"/>
              </a:ext>
            </a:extLst>
          </a:blip>
          <a:stretch>
            <a:fillRect/>
          </a:stretch>
        </p:blipFill>
        <p:spPr>
          <a:xfrm>
            <a:off x="11123771" y="4977884"/>
            <a:ext cx="265867" cy="265867"/>
          </a:xfrm>
          <a:prstGeom prst="rect">
            <a:avLst/>
          </a:prstGeom>
        </p:spPr>
      </p:pic>
      <p:sp>
        <p:nvSpPr>
          <p:cNvPr id="15" name="Text 9"/>
          <p:cNvSpPr/>
          <p:nvPr/>
        </p:nvSpPr>
        <p:spPr>
          <a:xfrm>
            <a:off x="9551670" y="5553908"/>
            <a:ext cx="2436614" cy="251817"/>
          </a:xfrm>
          <a:prstGeom prst="rect">
            <a:avLst/>
          </a:prstGeom>
          <a:noFill/>
          <a:ln/>
        </p:spPr>
        <p:txBody>
          <a:bodyPr wrap="none" lIns="0" tIns="0" rIns="0" bIns="0" rtlCol="0" anchor="t"/>
          <a:lstStyle/>
          <a:p>
            <a:pPr marL="0" indent="0" algn="l">
              <a:lnSpc>
                <a:spcPts val="1950"/>
              </a:lnSpc>
              <a:buNone/>
            </a:pPr>
            <a:r>
              <a:rPr lang="en-US" sz="1550" b="1" dirty="0">
                <a:solidFill>
                  <a:srgbClr val="3D3838"/>
                </a:solidFill>
                <a:latin typeface="Times New Roman" panose="02020603050405020304" pitchFamily="18" charset="0"/>
                <a:ea typeface="Montserrat Bold" pitchFamily="34" charset="-122"/>
                <a:cs typeface="Times New Roman" panose="02020603050405020304" pitchFamily="18" charset="0"/>
              </a:rPr>
              <a:t>Абстрактне мислення</a:t>
            </a:r>
            <a:endParaRPr lang="en-US" sz="1550" dirty="0">
              <a:latin typeface="Times New Roman" panose="02020603050405020304" pitchFamily="18" charset="0"/>
              <a:cs typeface="Times New Roman" panose="02020603050405020304" pitchFamily="18" charset="0"/>
            </a:endParaRPr>
          </a:p>
        </p:txBody>
      </p:sp>
      <p:sp>
        <p:nvSpPr>
          <p:cNvPr id="16" name="Text 10"/>
          <p:cNvSpPr/>
          <p:nvPr/>
        </p:nvSpPr>
        <p:spPr>
          <a:xfrm>
            <a:off x="9551670" y="5912048"/>
            <a:ext cx="3410069" cy="531733"/>
          </a:xfrm>
          <a:prstGeom prst="rect">
            <a:avLst/>
          </a:prstGeom>
          <a:noFill/>
          <a:ln/>
        </p:spPr>
        <p:txBody>
          <a:bodyPr wrap="square" lIns="0" tIns="0" rIns="0" bIns="0" rtlCol="0" anchor="t"/>
          <a:lstStyle/>
          <a:p>
            <a:pPr marL="0" indent="0" algn="l">
              <a:lnSpc>
                <a:spcPts val="2050"/>
              </a:lnSpc>
              <a:buNone/>
            </a:pPr>
            <a:r>
              <a:rPr lang="en-US" sz="1350" dirty="0">
                <a:solidFill>
                  <a:srgbClr val="3D3838"/>
                </a:solidFill>
                <a:latin typeface="Times New Roman" panose="02020603050405020304" pitchFamily="18" charset="0"/>
                <a:ea typeface="Source Sans 3" pitchFamily="34" charset="-122"/>
                <a:cs typeface="Times New Roman" panose="02020603050405020304" pitchFamily="18" charset="0"/>
              </a:rPr>
              <a:t>Розвиток здатності ШІ до узагальнення та розуміння абстрактних концепцій.</a:t>
            </a:r>
            <a:endParaRPr lang="en-US" sz="1350" dirty="0">
              <a:latin typeface="Times New Roman" panose="02020603050405020304" pitchFamily="18" charset="0"/>
              <a:cs typeface="Times New Roman" panose="02020603050405020304" pitchFamily="18" charset="0"/>
            </a:endParaRPr>
          </a:p>
        </p:txBody>
      </p:sp>
      <p:sp>
        <p:nvSpPr>
          <p:cNvPr id="17" name="Text 11"/>
          <p:cNvSpPr/>
          <p:nvPr/>
        </p:nvSpPr>
        <p:spPr>
          <a:xfrm>
            <a:off x="1491377" y="7072074"/>
            <a:ext cx="11647527" cy="531733"/>
          </a:xfrm>
          <a:prstGeom prst="rect">
            <a:avLst/>
          </a:prstGeom>
          <a:noFill/>
          <a:ln/>
        </p:spPr>
        <p:txBody>
          <a:bodyPr wrap="square" lIns="0" tIns="0" rIns="0" bIns="0" rtlCol="0" anchor="t"/>
          <a:lstStyle/>
          <a:p>
            <a:pPr marL="0" indent="0" algn="l">
              <a:lnSpc>
                <a:spcPts val="2050"/>
              </a:lnSpc>
              <a:buNone/>
            </a:pPr>
            <a:r>
              <a:rPr lang="en-US" sz="1350" dirty="0">
                <a:solidFill>
                  <a:srgbClr val="3D3838"/>
                </a:solidFill>
                <a:latin typeface="Times New Roman" panose="02020603050405020304" pitchFamily="18" charset="0"/>
                <a:ea typeface="Source Sans 3" pitchFamily="34" charset="-122"/>
                <a:cs typeface="Times New Roman" panose="02020603050405020304" pitchFamily="18" charset="0"/>
              </a:rPr>
              <a:t>Експерти обговорюють, чи зможе ШІ у 2026 році демонструвати рівень інтелекту, що не відрізняється від людського, або навіть перевершує його, у всіх когнітивних сферах. Це відкриє нові можливості, але й створить безпрецедентні виклики.</a:t>
            </a:r>
            <a:endParaRPr lang="en-US" sz="1350" dirty="0">
              <a:latin typeface="Times New Roman" panose="02020603050405020304" pitchFamily="18" charset="0"/>
              <a:cs typeface="Times New Roman" panose="02020603050405020304" pitchFamily="18" charset="0"/>
            </a:endParaRPr>
          </a:p>
        </p:txBody>
      </p:sp>
      <p:pic>
        <p:nvPicPr>
          <p:cNvPr id="18" name="Рисунок 17">
            <a:extLst>
              <a:ext uri="{FF2B5EF4-FFF2-40B4-BE49-F238E27FC236}">
                <a16:creationId xmlns:a16="http://schemas.microsoft.com/office/drawing/2014/main" id="{2F389C4A-19AC-460D-A9D2-98634397F153}"/>
              </a:ext>
            </a:extLst>
          </p:cNvPr>
          <p:cNvPicPr>
            <a:picLocks noChangeAspect="1"/>
          </p:cNvPicPr>
          <p:nvPr/>
        </p:nvPicPr>
        <p:blipFill>
          <a:blip r:embed="rId8"/>
          <a:stretch>
            <a:fillRect/>
          </a:stretch>
        </p:blipFill>
        <p:spPr>
          <a:xfrm>
            <a:off x="12502901" y="7772360"/>
            <a:ext cx="2095682" cy="4572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3798" y="593884"/>
            <a:ext cx="12902803" cy="1227058"/>
          </a:xfrm>
          <a:prstGeom prst="rect">
            <a:avLst/>
          </a:prstGeom>
          <a:noFill/>
          <a:ln/>
        </p:spPr>
        <p:txBody>
          <a:bodyPr wrap="square" lIns="0" tIns="0" rIns="0" bIns="0" rtlCol="0" anchor="t"/>
          <a:lstStyle/>
          <a:p>
            <a:pPr marL="0" indent="0" algn="l">
              <a:lnSpc>
                <a:spcPts val="4800"/>
              </a:lnSpc>
              <a:buNone/>
            </a:pPr>
            <a:r>
              <a:rPr lang="en-US" sz="3850" b="1" dirty="0">
                <a:solidFill>
                  <a:srgbClr val="000000"/>
                </a:solidFill>
                <a:latin typeface="Times New Roman" panose="02020603050405020304" pitchFamily="18" charset="0"/>
                <a:ea typeface="Montserrat Bold" pitchFamily="34" charset="-122"/>
                <a:cs typeface="Times New Roman" panose="02020603050405020304" pitchFamily="18" charset="0"/>
              </a:rPr>
              <a:t>Етика та регуляція ШІ: Нові виклики та пошук балансу</a:t>
            </a:r>
            <a:endParaRPr lang="en-US" sz="3850" dirty="0">
              <a:latin typeface="Times New Roman" panose="02020603050405020304" pitchFamily="18" charset="0"/>
              <a:cs typeface="Times New Roman" panose="02020603050405020304" pitchFamily="18" charset="0"/>
            </a:endParaRPr>
          </a:p>
        </p:txBody>
      </p:sp>
      <p:sp>
        <p:nvSpPr>
          <p:cNvPr id="3" name="Text 1"/>
          <p:cNvSpPr/>
          <p:nvPr/>
        </p:nvSpPr>
        <p:spPr>
          <a:xfrm>
            <a:off x="863798" y="2252782"/>
            <a:ext cx="12902803" cy="971907"/>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З прискореним розвитком ШІ, особливо після 2025 року, питання етики та регулювання стали центральними. Постали нові виклики, пов'язані з відповідальністю за дії автономних систем, потенційною дискримінацією через алгоритми та контролем над потужними технологіями.</a:t>
            </a:r>
            <a:endParaRPr lang="en-US" sz="1700" dirty="0">
              <a:latin typeface="Times New Roman" panose="02020603050405020304" pitchFamily="18" charset="0"/>
              <a:cs typeface="Times New Roman" panose="02020603050405020304" pitchFamily="18" charset="0"/>
            </a:endParaRPr>
          </a:p>
        </p:txBody>
      </p:sp>
      <p:sp>
        <p:nvSpPr>
          <p:cNvPr id="4" name="Text 2"/>
          <p:cNvSpPr/>
          <p:nvPr/>
        </p:nvSpPr>
        <p:spPr>
          <a:xfrm>
            <a:off x="1187648" y="3710464"/>
            <a:ext cx="12578953" cy="647938"/>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"Розробка ШІ не може йти всупереч базовим людським цінностям. Наше завдання – знайти баланс між інноваціями та захистом прав людини."</a:t>
            </a:r>
            <a:endParaRPr lang="en-US" sz="1700" dirty="0">
              <a:latin typeface="Times New Roman" panose="02020603050405020304" pitchFamily="18" charset="0"/>
              <a:cs typeface="Times New Roman" panose="02020603050405020304" pitchFamily="18" charset="0"/>
            </a:endParaRPr>
          </a:p>
        </p:txBody>
      </p:sp>
      <p:sp>
        <p:nvSpPr>
          <p:cNvPr id="5" name="Shape 3"/>
          <p:cNvSpPr/>
          <p:nvPr/>
        </p:nvSpPr>
        <p:spPr>
          <a:xfrm>
            <a:off x="863798" y="3467576"/>
            <a:ext cx="30480" cy="1133713"/>
          </a:xfrm>
          <a:prstGeom prst="rect">
            <a:avLst/>
          </a:prstGeom>
          <a:solidFill>
            <a:srgbClr val="2D2E34"/>
          </a:solidFill>
          <a:ln/>
        </p:spPr>
      </p:sp>
      <p:sp>
        <p:nvSpPr>
          <p:cNvPr id="6" name="Shape 4"/>
          <p:cNvSpPr/>
          <p:nvPr/>
        </p:nvSpPr>
        <p:spPr>
          <a:xfrm>
            <a:off x="863798" y="4844177"/>
            <a:ext cx="4156948" cy="1900833"/>
          </a:xfrm>
          <a:prstGeom prst="roundRect">
            <a:avLst>
              <a:gd name="adj" fmla="val 7697"/>
            </a:avLst>
          </a:prstGeom>
          <a:solidFill>
            <a:srgbClr val="FFFFFF"/>
          </a:solidFill>
          <a:ln w="30480">
            <a:solidFill>
              <a:srgbClr val="D8D4D4"/>
            </a:solidFill>
            <a:prstDash val="solid"/>
          </a:ln>
        </p:spPr>
      </p:sp>
      <p:sp>
        <p:nvSpPr>
          <p:cNvPr id="7" name="Shape 5"/>
          <p:cNvSpPr/>
          <p:nvPr/>
        </p:nvSpPr>
        <p:spPr>
          <a:xfrm>
            <a:off x="833318" y="4844177"/>
            <a:ext cx="121920" cy="1900833"/>
          </a:xfrm>
          <a:prstGeom prst="roundRect">
            <a:avLst>
              <a:gd name="adj" fmla="val 26572"/>
            </a:avLst>
          </a:prstGeom>
          <a:solidFill>
            <a:srgbClr val="2D2E34"/>
          </a:solidFill>
          <a:ln/>
        </p:spPr>
      </p:sp>
      <p:sp>
        <p:nvSpPr>
          <p:cNvPr id="8" name="Text 6"/>
          <p:cNvSpPr/>
          <p:nvPr/>
        </p:nvSpPr>
        <p:spPr>
          <a:xfrm>
            <a:off x="1201579" y="5090517"/>
            <a:ext cx="2454235"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Times New Roman" panose="02020603050405020304" pitchFamily="18" charset="0"/>
                <a:ea typeface="Montserrat Bold" pitchFamily="34" charset="-122"/>
                <a:cs typeface="Times New Roman" panose="02020603050405020304" pitchFamily="18" charset="0"/>
              </a:rPr>
              <a:t>Відповідальність</a:t>
            </a:r>
            <a:endParaRPr lang="en-US" sz="1900" dirty="0">
              <a:latin typeface="Times New Roman" panose="02020603050405020304" pitchFamily="18" charset="0"/>
              <a:cs typeface="Times New Roman" panose="02020603050405020304" pitchFamily="18" charset="0"/>
            </a:endParaRPr>
          </a:p>
        </p:txBody>
      </p:sp>
      <p:sp>
        <p:nvSpPr>
          <p:cNvPr id="9" name="Text 7"/>
          <p:cNvSpPr/>
          <p:nvPr/>
        </p:nvSpPr>
        <p:spPr>
          <a:xfrm>
            <a:off x="1201579" y="5526762"/>
            <a:ext cx="3572828" cy="647938"/>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Хто несе відповідальність за помилки або шкідливі дії ШІ?</a:t>
            </a:r>
            <a:endParaRPr lang="en-US" sz="1700" dirty="0">
              <a:latin typeface="Times New Roman" panose="02020603050405020304" pitchFamily="18" charset="0"/>
              <a:cs typeface="Times New Roman" panose="02020603050405020304" pitchFamily="18" charset="0"/>
            </a:endParaRPr>
          </a:p>
        </p:txBody>
      </p:sp>
      <p:sp>
        <p:nvSpPr>
          <p:cNvPr id="10" name="Shape 8"/>
          <p:cNvSpPr/>
          <p:nvPr/>
        </p:nvSpPr>
        <p:spPr>
          <a:xfrm>
            <a:off x="5236607" y="4844177"/>
            <a:ext cx="4157067" cy="1900833"/>
          </a:xfrm>
          <a:prstGeom prst="roundRect">
            <a:avLst>
              <a:gd name="adj" fmla="val 7697"/>
            </a:avLst>
          </a:prstGeom>
          <a:solidFill>
            <a:srgbClr val="FFFFFF"/>
          </a:solidFill>
          <a:ln w="30480">
            <a:solidFill>
              <a:srgbClr val="D8D4D4"/>
            </a:solidFill>
            <a:prstDash val="solid"/>
          </a:ln>
        </p:spPr>
      </p:sp>
      <p:sp>
        <p:nvSpPr>
          <p:cNvPr id="11" name="Shape 9"/>
          <p:cNvSpPr/>
          <p:nvPr/>
        </p:nvSpPr>
        <p:spPr>
          <a:xfrm>
            <a:off x="5206127" y="4844177"/>
            <a:ext cx="121920" cy="1900833"/>
          </a:xfrm>
          <a:prstGeom prst="roundRect">
            <a:avLst>
              <a:gd name="adj" fmla="val 26572"/>
            </a:avLst>
          </a:prstGeom>
          <a:solidFill>
            <a:srgbClr val="2D2E34"/>
          </a:solidFill>
          <a:ln/>
        </p:spPr>
      </p:sp>
      <p:sp>
        <p:nvSpPr>
          <p:cNvPr id="12" name="Text 10"/>
          <p:cNvSpPr/>
          <p:nvPr/>
        </p:nvSpPr>
        <p:spPr>
          <a:xfrm>
            <a:off x="5574387" y="5090517"/>
            <a:ext cx="2454235"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Times New Roman" panose="02020603050405020304" pitchFamily="18" charset="0"/>
                <a:ea typeface="Montserrat Bold" pitchFamily="34" charset="-122"/>
                <a:cs typeface="Times New Roman" panose="02020603050405020304" pitchFamily="18" charset="0"/>
              </a:rPr>
              <a:t>Прозорість</a:t>
            </a:r>
            <a:endParaRPr lang="en-US" sz="1900" dirty="0">
              <a:latin typeface="Times New Roman" panose="02020603050405020304" pitchFamily="18" charset="0"/>
              <a:cs typeface="Times New Roman" panose="02020603050405020304" pitchFamily="18" charset="0"/>
            </a:endParaRPr>
          </a:p>
        </p:txBody>
      </p:sp>
      <p:sp>
        <p:nvSpPr>
          <p:cNvPr id="13" name="Text 11"/>
          <p:cNvSpPr/>
          <p:nvPr/>
        </p:nvSpPr>
        <p:spPr>
          <a:xfrm>
            <a:off x="5574387" y="5526762"/>
            <a:ext cx="3572947" cy="647938"/>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Як забезпечити розуміння процесів прийняття рішень ШІ?</a:t>
            </a:r>
            <a:endParaRPr lang="en-US" sz="1700" dirty="0">
              <a:latin typeface="Times New Roman" panose="02020603050405020304" pitchFamily="18" charset="0"/>
              <a:cs typeface="Times New Roman" panose="02020603050405020304" pitchFamily="18" charset="0"/>
            </a:endParaRPr>
          </a:p>
        </p:txBody>
      </p:sp>
      <p:sp>
        <p:nvSpPr>
          <p:cNvPr id="14" name="Shape 12"/>
          <p:cNvSpPr/>
          <p:nvPr/>
        </p:nvSpPr>
        <p:spPr>
          <a:xfrm>
            <a:off x="9609534" y="4844177"/>
            <a:ext cx="4157067" cy="1900833"/>
          </a:xfrm>
          <a:prstGeom prst="roundRect">
            <a:avLst>
              <a:gd name="adj" fmla="val 7697"/>
            </a:avLst>
          </a:prstGeom>
          <a:solidFill>
            <a:srgbClr val="FFFFFF"/>
          </a:solidFill>
          <a:ln w="30480">
            <a:solidFill>
              <a:srgbClr val="D8D4D4"/>
            </a:solidFill>
            <a:prstDash val="solid"/>
          </a:ln>
        </p:spPr>
      </p:sp>
      <p:sp>
        <p:nvSpPr>
          <p:cNvPr id="15" name="Shape 13"/>
          <p:cNvSpPr/>
          <p:nvPr/>
        </p:nvSpPr>
        <p:spPr>
          <a:xfrm>
            <a:off x="9579054" y="4844177"/>
            <a:ext cx="121920" cy="1900833"/>
          </a:xfrm>
          <a:prstGeom prst="roundRect">
            <a:avLst>
              <a:gd name="adj" fmla="val 26572"/>
            </a:avLst>
          </a:prstGeom>
          <a:solidFill>
            <a:srgbClr val="2D2E34"/>
          </a:solidFill>
          <a:ln/>
        </p:spPr>
      </p:sp>
      <p:sp>
        <p:nvSpPr>
          <p:cNvPr id="16" name="Text 14"/>
          <p:cNvSpPr/>
          <p:nvPr/>
        </p:nvSpPr>
        <p:spPr>
          <a:xfrm>
            <a:off x="9947315" y="5090517"/>
            <a:ext cx="2454235" cy="306705"/>
          </a:xfrm>
          <a:prstGeom prst="rect">
            <a:avLst/>
          </a:prstGeom>
          <a:noFill/>
          <a:ln/>
        </p:spPr>
        <p:txBody>
          <a:bodyPr wrap="none" lIns="0" tIns="0" rIns="0" bIns="0" rtlCol="0" anchor="t"/>
          <a:lstStyle/>
          <a:p>
            <a:pPr marL="0" indent="0" algn="l">
              <a:lnSpc>
                <a:spcPts val="2400"/>
              </a:lnSpc>
              <a:buNone/>
            </a:pPr>
            <a:r>
              <a:rPr lang="en-US" sz="1900" b="1" dirty="0">
                <a:solidFill>
                  <a:srgbClr val="3D3838"/>
                </a:solidFill>
                <a:latin typeface="Times New Roman" panose="02020603050405020304" pitchFamily="18" charset="0"/>
                <a:ea typeface="Montserrat Bold" pitchFamily="34" charset="-122"/>
                <a:cs typeface="Times New Roman" panose="02020603050405020304" pitchFamily="18" charset="0"/>
              </a:rPr>
              <a:t>Дискримінація</a:t>
            </a:r>
            <a:endParaRPr lang="en-US" sz="1900" dirty="0">
              <a:latin typeface="Times New Roman" panose="02020603050405020304" pitchFamily="18" charset="0"/>
              <a:cs typeface="Times New Roman" panose="02020603050405020304" pitchFamily="18" charset="0"/>
            </a:endParaRPr>
          </a:p>
        </p:txBody>
      </p:sp>
      <p:sp>
        <p:nvSpPr>
          <p:cNvPr id="17" name="Text 15"/>
          <p:cNvSpPr/>
          <p:nvPr/>
        </p:nvSpPr>
        <p:spPr>
          <a:xfrm>
            <a:off x="9947315" y="5526762"/>
            <a:ext cx="3572947" cy="971907"/>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Як уникнути упередженості в алгоритмах та забезпечити справедливість?</a:t>
            </a:r>
            <a:endParaRPr lang="en-US" sz="1700" dirty="0">
              <a:latin typeface="Times New Roman" panose="02020603050405020304" pitchFamily="18" charset="0"/>
              <a:cs typeface="Times New Roman" panose="02020603050405020304" pitchFamily="18" charset="0"/>
            </a:endParaRPr>
          </a:p>
        </p:txBody>
      </p:sp>
      <p:sp>
        <p:nvSpPr>
          <p:cNvPr id="18" name="Text 16"/>
          <p:cNvSpPr/>
          <p:nvPr/>
        </p:nvSpPr>
        <p:spPr>
          <a:xfrm>
            <a:off x="863798" y="6987897"/>
            <a:ext cx="12902803" cy="647938"/>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Уряди та міжнародні організації активно працюють над створенням правових рамок, які б забезпечили безпечне та етичне використання ШІ. 2026 рік може стати роком прийняття ключових регуляторних актів, що визначать майбутнє розвитку технології.</a:t>
            </a:r>
            <a:endParaRPr lang="en-US" sz="1700" dirty="0">
              <a:latin typeface="Times New Roman" panose="02020603050405020304" pitchFamily="18" charset="0"/>
              <a:cs typeface="Times New Roman" panose="02020603050405020304" pitchFamily="18" charset="0"/>
            </a:endParaRPr>
          </a:p>
        </p:txBody>
      </p:sp>
      <p:pic>
        <p:nvPicPr>
          <p:cNvPr id="19" name="Рисунок 18">
            <a:extLst>
              <a:ext uri="{FF2B5EF4-FFF2-40B4-BE49-F238E27FC236}">
                <a16:creationId xmlns:a16="http://schemas.microsoft.com/office/drawing/2014/main" id="{87A39C8E-BA2A-4339-9540-7F432DE37C44}"/>
              </a:ext>
            </a:extLst>
          </p:cNvPr>
          <p:cNvPicPr>
            <a:picLocks noChangeAspect="1"/>
          </p:cNvPicPr>
          <p:nvPr/>
        </p:nvPicPr>
        <p:blipFill>
          <a:blip r:embed="rId3"/>
          <a:stretch>
            <a:fillRect/>
          </a:stretch>
        </p:blipFill>
        <p:spPr>
          <a:xfrm>
            <a:off x="12502901" y="7772360"/>
            <a:ext cx="2095682" cy="4572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63798" y="1064419"/>
            <a:ext cx="12902803" cy="1227058"/>
          </a:xfrm>
          <a:prstGeom prst="rect">
            <a:avLst/>
          </a:prstGeom>
          <a:noFill/>
          <a:ln/>
        </p:spPr>
        <p:txBody>
          <a:bodyPr wrap="square" lIns="0" tIns="0" rIns="0" bIns="0" rtlCol="0" anchor="t"/>
          <a:lstStyle/>
          <a:p>
            <a:pPr marL="0" indent="0" algn="l">
              <a:lnSpc>
                <a:spcPts val="4800"/>
              </a:lnSpc>
              <a:buNone/>
            </a:pPr>
            <a:r>
              <a:rPr lang="en-US" sz="3850" b="1" dirty="0">
                <a:solidFill>
                  <a:srgbClr val="000000"/>
                </a:solidFill>
                <a:latin typeface="Times New Roman" panose="02020603050405020304" pitchFamily="18" charset="0"/>
                <a:ea typeface="Montserrat Bold" pitchFamily="34" charset="-122"/>
                <a:cs typeface="Times New Roman" panose="02020603050405020304" pitchFamily="18" charset="0"/>
              </a:rPr>
              <a:t>ШІ в медицині та науці: Революційні відкриття та персоналізовані рішення</a:t>
            </a:r>
            <a:endParaRPr lang="en-US" sz="3850" dirty="0">
              <a:latin typeface="Times New Roman" panose="02020603050405020304" pitchFamily="18" charset="0"/>
              <a:cs typeface="Times New Roman" panose="02020603050405020304" pitchFamily="18" charset="0"/>
            </a:endParaRPr>
          </a:p>
        </p:txBody>
      </p:sp>
      <p:sp>
        <p:nvSpPr>
          <p:cNvPr id="3" name="Text 1"/>
          <p:cNvSpPr/>
          <p:nvPr/>
        </p:nvSpPr>
        <p:spPr>
          <a:xfrm>
            <a:off x="863798" y="2723317"/>
            <a:ext cx="12902803" cy="971907"/>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У 2026 році ШІ продовжить відігравати ключову роль у трансформації медицини та науки, прискорюючи темпи відкриттів та пропонуючи персоналізовані рішення. Після успішного впровадження ШІ у діагностику та відкриття нових ліків у 2025 році, ми очікуємо ще більш значних досягнень.</a:t>
            </a:r>
            <a:endParaRPr lang="en-US" sz="1700" dirty="0">
              <a:latin typeface="Times New Roman" panose="02020603050405020304" pitchFamily="18" charset="0"/>
              <a:cs typeface="Times New Roman" panose="02020603050405020304" pitchFamily="18" charset="0"/>
            </a:endParaRPr>
          </a:p>
        </p:txBody>
      </p:sp>
      <p:sp>
        <p:nvSpPr>
          <p:cNvPr id="4" name="Text 2"/>
          <p:cNvSpPr/>
          <p:nvPr/>
        </p:nvSpPr>
        <p:spPr>
          <a:xfrm>
            <a:off x="863798" y="4153972"/>
            <a:ext cx="2454235" cy="306705"/>
          </a:xfrm>
          <a:prstGeom prst="rect">
            <a:avLst/>
          </a:prstGeom>
          <a:noFill/>
          <a:ln/>
        </p:spPr>
        <p:txBody>
          <a:bodyPr wrap="none" lIns="0" tIns="0" rIns="0" bIns="0" rtlCol="0" anchor="t"/>
          <a:lstStyle/>
          <a:p>
            <a:pPr marL="0" indent="0" algn="l">
              <a:lnSpc>
                <a:spcPts val="2400"/>
              </a:lnSpc>
              <a:buNone/>
            </a:pPr>
            <a:r>
              <a:rPr lang="en-US" sz="1900" b="1" dirty="0">
                <a:solidFill>
                  <a:srgbClr val="000000"/>
                </a:solidFill>
                <a:latin typeface="Times New Roman" panose="02020603050405020304" pitchFamily="18" charset="0"/>
                <a:ea typeface="Montserrat Bold" pitchFamily="34" charset="-122"/>
                <a:cs typeface="Times New Roman" panose="02020603050405020304" pitchFamily="18" charset="0"/>
              </a:rPr>
              <a:t>Медицина</a:t>
            </a:r>
            <a:endParaRPr lang="en-US" sz="1900" dirty="0">
              <a:latin typeface="Times New Roman" panose="02020603050405020304" pitchFamily="18" charset="0"/>
              <a:cs typeface="Times New Roman" panose="02020603050405020304" pitchFamily="18" charset="0"/>
            </a:endParaRPr>
          </a:p>
        </p:txBody>
      </p:sp>
      <p:sp>
        <p:nvSpPr>
          <p:cNvPr id="5" name="Text 3"/>
          <p:cNvSpPr/>
          <p:nvPr/>
        </p:nvSpPr>
        <p:spPr>
          <a:xfrm>
            <a:off x="863798" y="4676537"/>
            <a:ext cx="6187916" cy="323969"/>
          </a:xfrm>
          <a:prstGeom prst="rect">
            <a:avLst/>
          </a:prstGeom>
          <a:noFill/>
          <a:ln/>
        </p:spPr>
        <p:txBody>
          <a:bodyPr wrap="none" lIns="0" tIns="0" rIns="0" bIns="0" rtlCol="0" anchor="t"/>
          <a:lstStyle/>
          <a:p>
            <a:pPr marL="342900" indent="-342900" algn="l">
              <a:lnSpc>
                <a:spcPts val="2550"/>
              </a:lnSpc>
              <a:buSzPct val="100000"/>
              <a:buChar char="•"/>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Прискорений пошук ліків від невиліковних хвороб.</a:t>
            </a:r>
            <a:endParaRPr lang="en-US" sz="1700" dirty="0">
              <a:latin typeface="Times New Roman" panose="02020603050405020304" pitchFamily="18" charset="0"/>
              <a:cs typeface="Times New Roman" panose="02020603050405020304" pitchFamily="18" charset="0"/>
            </a:endParaRPr>
          </a:p>
        </p:txBody>
      </p:sp>
      <p:sp>
        <p:nvSpPr>
          <p:cNvPr id="6" name="Text 4"/>
          <p:cNvSpPr/>
          <p:nvPr/>
        </p:nvSpPr>
        <p:spPr>
          <a:xfrm>
            <a:off x="863798" y="5075992"/>
            <a:ext cx="6187916" cy="323969"/>
          </a:xfrm>
          <a:prstGeom prst="rect">
            <a:avLst/>
          </a:prstGeom>
          <a:noFill/>
          <a:ln/>
        </p:spPr>
        <p:txBody>
          <a:bodyPr wrap="none" lIns="0" tIns="0" rIns="0" bIns="0" rtlCol="0" anchor="t"/>
          <a:lstStyle/>
          <a:p>
            <a:pPr marL="342900" indent="-342900" algn="l">
              <a:lnSpc>
                <a:spcPts val="2550"/>
              </a:lnSpc>
              <a:buSzPct val="100000"/>
              <a:buChar char="•"/>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Персоналізована терапія на основі генетичних даних.</a:t>
            </a:r>
            <a:endParaRPr lang="en-US" sz="1700" dirty="0">
              <a:latin typeface="Times New Roman" panose="02020603050405020304" pitchFamily="18" charset="0"/>
              <a:cs typeface="Times New Roman" panose="02020603050405020304" pitchFamily="18" charset="0"/>
            </a:endParaRPr>
          </a:p>
        </p:txBody>
      </p:sp>
      <p:sp>
        <p:nvSpPr>
          <p:cNvPr id="7" name="Text 5"/>
          <p:cNvSpPr/>
          <p:nvPr/>
        </p:nvSpPr>
        <p:spPr>
          <a:xfrm>
            <a:off x="863798" y="5475446"/>
            <a:ext cx="6187916" cy="323969"/>
          </a:xfrm>
          <a:prstGeom prst="rect">
            <a:avLst/>
          </a:prstGeom>
          <a:noFill/>
          <a:ln/>
        </p:spPr>
        <p:txBody>
          <a:bodyPr wrap="none" lIns="0" tIns="0" rIns="0" bIns="0" rtlCol="0" anchor="t"/>
          <a:lstStyle/>
          <a:p>
            <a:pPr marL="342900" indent="-342900" algn="l">
              <a:lnSpc>
                <a:spcPts val="2550"/>
              </a:lnSpc>
              <a:buSzPct val="100000"/>
              <a:buChar char="•"/>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Роботизована хірургія з підвищеною точністю.</a:t>
            </a:r>
            <a:endParaRPr lang="en-US" sz="1700" dirty="0">
              <a:latin typeface="Times New Roman" panose="02020603050405020304" pitchFamily="18" charset="0"/>
              <a:cs typeface="Times New Roman" panose="02020603050405020304" pitchFamily="18" charset="0"/>
            </a:endParaRPr>
          </a:p>
        </p:txBody>
      </p:sp>
      <p:sp>
        <p:nvSpPr>
          <p:cNvPr id="8" name="Text 6"/>
          <p:cNvSpPr/>
          <p:nvPr/>
        </p:nvSpPr>
        <p:spPr>
          <a:xfrm>
            <a:off x="863798" y="5874901"/>
            <a:ext cx="6187916" cy="323969"/>
          </a:xfrm>
          <a:prstGeom prst="rect">
            <a:avLst/>
          </a:prstGeom>
          <a:noFill/>
          <a:ln/>
        </p:spPr>
        <p:txBody>
          <a:bodyPr wrap="none" lIns="0" tIns="0" rIns="0" bIns="0" rtlCol="0" anchor="t"/>
          <a:lstStyle/>
          <a:p>
            <a:pPr marL="342900" indent="-342900" algn="l">
              <a:lnSpc>
                <a:spcPts val="2550"/>
              </a:lnSpc>
              <a:buSzPct val="100000"/>
              <a:buChar char="•"/>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Прогнозування епідемій та розробка вакцин.</a:t>
            </a:r>
            <a:endParaRPr lang="en-US" sz="1700" dirty="0">
              <a:latin typeface="Times New Roman" panose="02020603050405020304" pitchFamily="18" charset="0"/>
              <a:cs typeface="Times New Roman" panose="02020603050405020304" pitchFamily="18" charset="0"/>
            </a:endParaRPr>
          </a:p>
        </p:txBody>
      </p:sp>
      <p:sp>
        <p:nvSpPr>
          <p:cNvPr id="9" name="Text 7"/>
          <p:cNvSpPr/>
          <p:nvPr/>
        </p:nvSpPr>
        <p:spPr>
          <a:xfrm>
            <a:off x="7586305" y="4153972"/>
            <a:ext cx="2454235" cy="306705"/>
          </a:xfrm>
          <a:prstGeom prst="rect">
            <a:avLst/>
          </a:prstGeom>
          <a:noFill/>
          <a:ln/>
        </p:spPr>
        <p:txBody>
          <a:bodyPr wrap="none" lIns="0" tIns="0" rIns="0" bIns="0" rtlCol="0" anchor="t"/>
          <a:lstStyle/>
          <a:p>
            <a:pPr marL="0" indent="0" algn="l">
              <a:lnSpc>
                <a:spcPts val="2400"/>
              </a:lnSpc>
              <a:buNone/>
            </a:pPr>
            <a:r>
              <a:rPr lang="en-US" sz="1900" b="1" dirty="0">
                <a:solidFill>
                  <a:srgbClr val="000000"/>
                </a:solidFill>
                <a:latin typeface="Times New Roman" panose="02020603050405020304" pitchFamily="18" charset="0"/>
                <a:ea typeface="Montserrat Bold" pitchFamily="34" charset="-122"/>
                <a:cs typeface="Times New Roman" panose="02020603050405020304" pitchFamily="18" charset="0"/>
              </a:rPr>
              <a:t>Наука</a:t>
            </a:r>
            <a:endParaRPr lang="en-US" sz="1900" dirty="0">
              <a:latin typeface="Times New Roman" panose="02020603050405020304" pitchFamily="18" charset="0"/>
              <a:cs typeface="Times New Roman" panose="02020603050405020304" pitchFamily="18" charset="0"/>
            </a:endParaRPr>
          </a:p>
        </p:txBody>
      </p:sp>
      <p:sp>
        <p:nvSpPr>
          <p:cNvPr id="10" name="Text 8"/>
          <p:cNvSpPr/>
          <p:nvPr/>
        </p:nvSpPr>
        <p:spPr>
          <a:xfrm>
            <a:off x="7586305" y="4676537"/>
            <a:ext cx="6187916" cy="323969"/>
          </a:xfrm>
          <a:prstGeom prst="rect">
            <a:avLst/>
          </a:prstGeom>
          <a:noFill/>
          <a:ln/>
        </p:spPr>
        <p:txBody>
          <a:bodyPr wrap="none" lIns="0" tIns="0" rIns="0" bIns="0" rtlCol="0" anchor="t"/>
          <a:lstStyle/>
          <a:p>
            <a:pPr marL="342900" indent="-342900" algn="l">
              <a:lnSpc>
                <a:spcPts val="2550"/>
              </a:lnSpc>
              <a:buSzPct val="100000"/>
              <a:buChar char="•"/>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Моделювання складних фізичних процесів.</a:t>
            </a:r>
            <a:endParaRPr lang="en-US" sz="1700" dirty="0">
              <a:latin typeface="Times New Roman" panose="02020603050405020304" pitchFamily="18" charset="0"/>
              <a:cs typeface="Times New Roman" panose="02020603050405020304" pitchFamily="18" charset="0"/>
            </a:endParaRPr>
          </a:p>
        </p:txBody>
      </p:sp>
      <p:sp>
        <p:nvSpPr>
          <p:cNvPr id="11" name="Text 9"/>
          <p:cNvSpPr/>
          <p:nvPr/>
        </p:nvSpPr>
        <p:spPr>
          <a:xfrm>
            <a:off x="7586305" y="5075992"/>
            <a:ext cx="6187916" cy="323969"/>
          </a:xfrm>
          <a:prstGeom prst="rect">
            <a:avLst/>
          </a:prstGeom>
          <a:noFill/>
          <a:ln/>
        </p:spPr>
        <p:txBody>
          <a:bodyPr wrap="none" lIns="0" tIns="0" rIns="0" bIns="0" rtlCol="0" anchor="t"/>
          <a:lstStyle/>
          <a:p>
            <a:pPr marL="342900" indent="-342900" algn="l">
              <a:lnSpc>
                <a:spcPts val="2550"/>
              </a:lnSpc>
              <a:buSzPct val="100000"/>
              <a:buChar char="•"/>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Відкриття нових матеріалів з унікальними властивостями.</a:t>
            </a:r>
            <a:endParaRPr lang="en-US" sz="1700" dirty="0">
              <a:latin typeface="Times New Roman" panose="02020603050405020304" pitchFamily="18" charset="0"/>
              <a:cs typeface="Times New Roman" panose="02020603050405020304" pitchFamily="18" charset="0"/>
            </a:endParaRPr>
          </a:p>
        </p:txBody>
      </p:sp>
      <p:sp>
        <p:nvSpPr>
          <p:cNvPr id="12" name="Text 10"/>
          <p:cNvSpPr/>
          <p:nvPr/>
        </p:nvSpPr>
        <p:spPr>
          <a:xfrm>
            <a:off x="7586305" y="5475446"/>
            <a:ext cx="6187916" cy="323969"/>
          </a:xfrm>
          <a:prstGeom prst="rect">
            <a:avLst/>
          </a:prstGeom>
          <a:noFill/>
          <a:ln/>
        </p:spPr>
        <p:txBody>
          <a:bodyPr wrap="none" lIns="0" tIns="0" rIns="0" bIns="0" rtlCol="0" anchor="t"/>
          <a:lstStyle/>
          <a:p>
            <a:pPr marL="342900" indent="-342900" algn="l">
              <a:lnSpc>
                <a:spcPts val="2550"/>
              </a:lnSpc>
              <a:buSzPct val="100000"/>
              <a:buChar char="•"/>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Аналіз величезних масивів даних у астрономії та біології.</a:t>
            </a:r>
            <a:endParaRPr lang="en-US" sz="1700" dirty="0">
              <a:latin typeface="Times New Roman" panose="02020603050405020304" pitchFamily="18" charset="0"/>
              <a:cs typeface="Times New Roman" panose="02020603050405020304" pitchFamily="18" charset="0"/>
            </a:endParaRPr>
          </a:p>
        </p:txBody>
      </p:sp>
      <p:sp>
        <p:nvSpPr>
          <p:cNvPr id="13" name="Text 11"/>
          <p:cNvSpPr/>
          <p:nvPr/>
        </p:nvSpPr>
        <p:spPr>
          <a:xfrm>
            <a:off x="7586305" y="5874901"/>
            <a:ext cx="6187916" cy="323969"/>
          </a:xfrm>
          <a:prstGeom prst="rect">
            <a:avLst/>
          </a:prstGeom>
          <a:noFill/>
          <a:ln/>
        </p:spPr>
        <p:txBody>
          <a:bodyPr wrap="none" lIns="0" tIns="0" rIns="0" bIns="0" rtlCol="0" anchor="t"/>
          <a:lstStyle/>
          <a:p>
            <a:pPr marL="342900" indent="-342900" algn="l">
              <a:lnSpc>
                <a:spcPts val="2550"/>
              </a:lnSpc>
              <a:buSzPct val="100000"/>
              <a:buChar char="•"/>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Автоматизація експериментів у лабораторіях.</a:t>
            </a:r>
            <a:endParaRPr lang="en-US" sz="1700" dirty="0">
              <a:latin typeface="Times New Roman" panose="02020603050405020304" pitchFamily="18" charset="0"/>
              <a:cs typeface="Times New Roman" panose="02020603050405020304" pitchFamily="18" charset="0"/>
            </a:endParaRPr>
          </a:p>
        </p:txBody>
      </p:sp>
      <p:sp>
        <p:nvSpPr>
          <p:cNvPr id="14" name="Text 12"/>
          <p:cNvSpPr/>
          <p:nvPr/>
        </p:nvSpPr>
        <p:spPr>
          <a:xfrm>
            <a:off x="863798" y="6517243"/>
            <a:ext cx="12902803" cy="647938"/>
          </a:xfrm>
          <a:prstGeom prst="rect">
            <a:avLst/>
          </a:prstGeom>
          <a:noFill/>
          <a:ln/>
        </p:spPr>
        <p:txBody>
          <a:bodyPr wrap="square" lIns="0" tIns="0" rIns="0" bIns="0" rtlCol="0" anchor="t"/>
          <a:lstStyle/>
          <a:p>
            <a:pPr marL="0" indent="0" algn="l">
              <a:lnSpc>
                <a:spcPts val="2550"/>
              </a:lnSpc>
              <a:buNone/>
            </a:pPr>
            <a:r>
              <a:rPr lang="en-US" sz="1700" dirty="0">
                <a:solidFill>
                  <a:srgbClr val="3D3838"/>
                </a:solidFill>
                <a:latin typeface="Times New Roman" panose="02020603050405020304" pitchFamily="18" charset="0"/>
                <a:ea typeface="Source Sans 3" pitchFamily="34" charset="-122"/>
                <a:cs typeface="Times New Roman" panose="02020603050405020304" pitchFamily="18" charset="0"/>
              </a:rPr>
              <a:t>ШІ-системи, здатні аналізувати мільйони наукових статей та клінічних даних, стануть незамінними помічниками для вчених та лікарів, ведучи до революційних відкриттів та значного покращення якості життя.</a:t>
            </a:r>
            <a:endParaRPr lang="en-US" sz="1700" dirty="0">
              <a:latin typeface="Times New Roman" panose="02020603050405020304" pitchFamily="18" charset="0"/>
              <a:cs typeface="Times New Roman" panose="02020603050405020304" pitchFamily="18" charset="0"/>
            </a:endParaRPr>
          </a:p>
        </p:txBody>
      </p:sp>
      <p:pic>
        <p:nvPicPr>
          <p:cNvPr id="15" name="Рисунок 14">
            <a:extLst>
              <a:ext uri="{FF2B5EF4-FFF2-40B4-BE49-F238E27FC236}">
                <a16:creationId xmlns:a16="http://schemas.microsoft.com/office/drawing/2014/main" id="{F22EB140-0593-421D-9AF2-DBF02A815C58}"/>
              </a:ext>
            </a:extLst>
          </p:cNvPr>
          <p:cNvPicPr>
            <a:picLocks noChangeAspect="1"/>
          </p:cNvPicPr>
          <p:nvPr/>
        </p:nvPicPr>
        <p:blipFill>
          <a:blip r:embed="rId3"/>
          <a:stretch>
            <a:fillRect/>
          </a:stretch>
        </p:blipFill>
        <p:spPr>
          <a:xfrm>
            <a:off x="12502901" y="7772360"/>
            <a:ext cx="2095682" cy="4572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427440" y="492681"/>
            <a:ext cx="11775519" cy="1018223"/>
          </a:xfrm>
          <a:prstGeom prst="rect">
            <a:avLst/>
          </a:prstGeom>
          <a:noFill/>
          <a:ln/>
        </p:spPr>
        <p:txBody>
          <a:bodyPr wrap="square" lIns="0" tIns="0" rIns="0" bIns="0" rtlCol="0" anchor="t"/>
          <a:lstStyle/>
          <a:p>
            <a:pPr marL="0" indent="0" algn="l">
              <a:lnSpc>
                <a:spcPts val="4000"/>
              </a:lnSpc>
              <a:buNone/>
            </a:pPr>
            <a:r>
              <a:rPr lang="en-US" sz="3200" b="1" dirty="0">
                <a:solidFill>
                  <a:srgbClr val="000000"/>
                </a:solidFill>
                <a:latin typeface="Times New Roman" panose="02020603050405020304" pitchFamily="18" charset="0"/>
                <a:ea typeface="Montserrat Bold" pitchFamily="34" charset="-122"/>
                <a:cs typeface="Times New Roman" panose="02020603050405020304" pitchFamily="18" charset="0"/>
              </a:rPr>
              <a:t>Вплив ШІ на ринок праці: Нові професії та необхідність перекваліфікації</a:t>
            </a:r>
            <a:endParaRPr lang="en-US" sz="3200" dirty="0">
              <a:latin typeface="Times New Roman" panose="02020603050405020304" pitchFamily="18" charset="0"/>
              <a:cs typeface="Times New Roman" panose="02020603050405020304" pitchFamily="18" charset="0"/>
            </a:endParaRPr>
          </a:p>
        </p:txBody>
      </p:sp>
      <p:sp>
        <p:nvSpPr>
          <p:cNvPr id="3" name="Text 1"/>
          <p:cNvSpPr/>
          <p:nvPr/>
        </p:nvSpPr>
        <p:spPr>
          <a:xfrm>
            <a:off x="1427440" y="1869281"/>
            <a:ext cx="11775519" cy="806172"/>
          </a:xfrm>
          <a:prstGeom prst="rect">
            <a:avLst/>
          </a:prstGeom>
          <a:noFill/>
          <a:ln/>
        </p:spPr>
        <p:txBody>
          <a:bodyPr wrap="square" lIns="0" tIns="0" rIns="0" bIns="0" rtlCol="0" anchor="t"/>
          <a:lstStyle/>
          <a:p>
            <a:pPr marL="0" indent="0" algn="l">
              <a:lnSpc>
                <a:spcPts val="2100"/>
              </a:lnSpc>
              <a:buNone/>
            </a:pPr>
            <a:r>
              <a:rPr lang="en-US" sz="1400" dirty="0">
                <a:solidFill>
                  <a:srgbClr val="3D3838"/>
                </a:solidFill>
                <a:latin typeface="Times New Roman" panose="02020603050405020304" pitchFamily="18" charset="0"/>
                <a:ea typeface="Source Sans 3" pitchFamily="34" charset="-122"/>
                <a:cs typeface="Times New Roman" panose="02020603050405020304" pitchFamily="18" charset="0"/>
              </a:rPr>
              <a:t>Штучний інтелект продовжує змінювати ландшафт ринку праці. У 2026 році, після хвилі автоматизації 2025 року, ми побачимо ще більше трансформацій. Деякі професії можуть зникнути або істотно змінитися, тоді як інші, пов'язані з розробкою, впровадженням та обслуговуванням ШІ, набудуть нового значення.</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3188494" y="3524726"/>
            <a:ext cx="2065973" cy="254437"/>
          </a:xfrm>
          <a:prstGeom prst="rect">
            <a:avLst/>
          </a:prstGeom>
          <a:noFill/>
          <a:ln/>
        </p:spPr>
        <p:txBody>
          <a:bodyPr wrap="none" lIns="0" tIns="0" rIns="0" bIns="0" rtlCol="0" anchor="t"/>
          <a:lstStyle/>
          <a:p>
            <a:pPr marL="0" indent="0" algn="r">
              <a:lnSpc>
                <a:spcPts val="2000"/>
              </a:lnSpc>
              <a:buNone/>
            </a:pPr>
            <a:r>
              <a:rPr lang="en-US" sz="1600" b="1" dirty="0">
                <a:solidFill>
                  <a:srgbClr val="3D3838"/>
                </a:solidFill>
                <a:latin typeface="Times New Roman" panose="02020603050405020304" pitchFamily="18" charset="0"/>
                <a:ea typeface="Montserrat Bold" pitchFamily="34" charset="-122"/>
                <a:cs typeface="Times New Roman" panose="02020603050405020304" pitchFamily="18" charset="0"/>
              </a:rPr>
              <a:t>Фахівці з етики ШІ</a:t>
            </a:r>
            <a:endParaRPr lang="en-US" sz="1600" dirty="0">
              <a:latin typeface="Times New Roman" panose="02020603050405020304" pitchFamily="18" charset="0"/>
              <a:cs typeface="Times New Roman" panose="02020603050405020304" pitchFamily="18" charset="0"/>
            </a:endParaRPr>
          </a:p>
        </p:txBody>
      </p:sp>
      <p:sp>
        <p:nvSpPr>
          <p:cNvPr id="5" name="Text 3"/>
          <p:cNvSpPr/>
          <p:nvPr/>
        </p:nvSpPr>
        <p:spPr>
          <a:xfrm>
            <a:off x="1427440" y="3886676"/>
            <a:ext cx="3827026" cy="268724"/>
          </a:xfrm>
          <a:prstGeom prst="rect">
            <a:avLst/>
          </a:prstGeom>
          <a:noFill/>
          <a:ln/>
        </p:spPr>
        <p:txBody>
          <a:bodyPr wrap="none" lIns="0" tIns="0" rIns="0" bIns="0" rtlCol="0" anchor="t"/>
          <a:lstStyle/>
          <a:p>
            <a:pPr marL="0" indent="0" algn="r">
              <a:lnSpc>
                <a:spcPts val="2100"/>
              </a:lnSpc>
              <a:buNone/>
            </a:pPr>
            <a:r>
              <a:rPr lang="en-US" sz="1400" dirty="0">
                <a:solidFill>
                  <a:srgbClr val="3D3838"/>
                </a:solidFill>
                <a:latin typeface="Times New Roman" panose="02020603050405020304" pitchFamily="18" charset="0"/>
                <a:ea typeface="Source Sans 3" pitchFamily="34" charset="-122"/>
                <a:cs typeface="Times New Roman" panose="02020603050405020304" pitchFamily="18" charset="0"/>
              </a:rPr>
              <a:t>Розробка етичних норм та протоколів.</a:t>
            </a:r>
            <a:endParaRPr lang="en-US" sz="1400" dirty="0">
              <a:latin typeface="Times New Roman" panose="02020603050405020304" pitchFamily="18" charset="0"/>
              <a:cs typeface="Times New Roman" panose="02020603050405020304" pitchFamily="18" charset="0"/>
            </a:endParaRPr>
          </a:p>
        </p:txBody>
      </p:sp>
      <p:pic>
        <p:nvPicPr>
          <p:cNvPr id="6" name="Image 0" descr="preencoded.png"/>
          <p:cNvPicPr>
            <a:picLocks noChangeAspect="1"/>
          </p:cNvPicPr>
          <p:nvPr/>
        </p:nvPicPr>
        <p:blipFill>
          <a:blip r:embed="rId3"/>
          <a:stretch>
            <a:fillRect/>
          </a:stretch>
        </p:blipFill>
        <p:spPr>
          <a:xfrm>
            <a:off x="5254466" y="2877026"/>
            <a:ext cx="4121348" cy="4121348"/>
          </a:xfrm>
          <a:prstGeom prst="rect">
            <a:avLst/>
          </a:prstGeom>
        </p:spPr>
      </p:pic>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30553" y="4187785"/>
            <a:ext cx="251936" cy="251936"/>
          </a:xfrm>
          <a:prstGeom prst="rect">
            <a:avLst/>
          </a:prstGeom>
        </p:spPr>
      </p:pic>
      <p:sp>
        <p:nvSpPr>
          <p:cNvPr id="8" name="Text 4"/>
          <p:cNvSpPr/>
          <p:nvPr/>
        </p:nvSpPr>
        <p:spPr>
          <a:xfrm>
            <a:off x="9375815" y="3158966"/>
            <a:ext cx="2469952" cy="254437"/>
          </a:xfrm>
          <a:prstGeom prst="rect">
            <a:avLst/>
          </a:prstGeom>
          <a:noFill/>
          <a:ln/>
        </p:spPr>
        <p:txBody>
          <a:bodyPr wrap="none" lIns="0" tIns="0" rIns="0" bIns="0" rtlCol="0" anchor="t"/>
          <a:lstStyle/>
          <a:p>
            <a:pPr marL="0" indent="0" algn="l">
              <a:lnSpc>
                <a:spcPts val="2000"/>
              </a:lnSpc>
              <a:buNone/>
            </a:pPr>
            <a:r>
              <a:rPr lang="en-US" sz="1600" b="1" dirty="0">
                <a:solidFill>
                  <a:srgbClr val="3D3838"/>
                </a:solidFill>
                <a:latin typeface="Times New Roman" panose="02020603050405020304" pitchFamily="18" charset="0"/>
                <a:ea typeface="Montserrat Bold" pitchFamily="34" charset="-122"/>
                <a:cs typeface="Times New Roman" panose="02020603050405020304" pitchFamily="18" charset="0"/>
              </a:rPr>
              <a:t>Інженери з ШІ-систем</a:t>
            </a:r>
            <a:endParaRPr lang="en-US" sz="1600" dirty="0">
              <a:latin typeface="Times New Roman" panose="02020603050405020304" pitchFamily="18" charset="0"/>
              <a:cs typeface="Times New Roman" panose="02020603050405020304" pitchFamily="18" charset="0"/>
            </a:endParaRPr>
          </a:p>
        </p:txBody>
      </p:sp>
      <p:sp>
        <p:nvSpPr>
          <p:cNvPr id="9" name="Text 5"/>
          <p:cNvSpPr/>
          <p:nvPr/>
        </p:nvSpPr>
        <p:spPr>
          <a:xfrm>
            <a:off x="9375815" y="3520916"/>
            <a:ext cx="3827145" cy="268724"/>
          </a:xfrm>
          <a:prstGeom prst="rect">
            <a:avLst/>
          </a:prstGeom>
          <a:noFill/>
          <a:ln/>
        </p:spPr>
        <p:txBody>
          <a:bodyPr wrap="none" lIns="0" tIns="0" rIns="0" bIns="0" rtlCol="0" anchor="t"/>
          <a:lstStyle/>
          <a:p>
            <a:pPr marL="0" indent="0" algn="l">
              <a:lnSpc>
                <a:spcPts val="2100"/>
              </a:lnSpc>
              <a:buNone/>
            </a:pPr>
            <a:r>
              <a:rPr lang="en-US" sz="1400" dirty="0">
                <a:solidFill>
                  <a:srgbClr val="3D3838"/>
                </a:solidFill>
                <a:latin typeface="Times New Roman" panose="02020603050405020304" pitchFamily="18" charset="0"/>
                <a:ea typeface="Source Sans 3" pitchFamily="34" charset="-122"/>
                <a:cs typeface="Times New Roman" panose="02020603050405020304" pitchFamily="18" charset="0"/>
              </a:rPr>
              <a:t>Проектування, розробка та інтеграція.</a:t>
            </a:r>
            <a:endParaRPr lang="en-US" sz="1400" dirty="0">
              <a:latin typeface="Times New Roman" panose="02020603050405020304" pitchFamily="18" charset="0"/>
              <a:cs typeface="Times New Roman" panose="02020603050405020304" pitchFamily="18" charset="0"/>
            </a:endParaRPr>
          </a:p>
        </p:txBody>
      </p:sp>
      <p:pic>
        <p:nvPicPr>
          <p:cNvPr id="10" name="Image 2" descr="preencoded.png"/>
          <p:cNvPicPr>
            <a:picLocks noChangeAspect="1"/>
          </p:cNvPicPr>
          <p:nvPr/>
        </p:nvPicPr>
        <p:blipFill>
          <a:blip r:embed="rId6"/>
          <a:stretch>
            <a:fillRect/>
          </a:stretch>
        </p:blipFill>
        <p:spPr>
          <a:xfrm>
            <a:off x="5254466" y="2877026"/>
            <a:ext cx="4121348" cy="4121348"/>
          </a:xfrm>
          <a:prstGeom prst="rect">
            <a:avLst/>
          </a:prstGeom>
        </p:spPr>
      </p:pic>
      <p:pic>
        <p:nvPicPr>
          <p:cNvPr id="11" name="Image 3" descr="preencoded.png"/>
          <p:cNvPicPr>
            <a:picLocks noChangeAspect="1"/>
          </p:cNvPicPr>
          <p:nvPr/>
        </p:nvPicPr>
        <p:blipFill>
          <a:blip r:embed="rId4">
            <a:extLst>
              <a:ext uri="{96DAC541-7B7A-43D3-8B79-37D633B846F1}">
                <asvg:svgBlip xmlns:asvg="http://schemas.microsoft.com/office/drawing/2016/SVG/main" r:embed="rId7"/>
              </a:ext>
            </a:extLst>
          </a:blip>
          <a:stretch>
            <a:fillRect/>
          </a:stretch>
        </p:blipFill>
        <p:spPr>
          <a:xfrm>
            <a:off x="7517011" y="3802261"/>
            <a:ext cx="251936" cy="251936"/>
          </a:xfrm>
          <a:prstGeom prst="rect">
            <a:avLst/>
          </a:prstGeom>
        </p:spPr>
      </p:pic>
      <p:sp>
        <p:nvSpPr>
          <p:cNvPr id="12" name="Text 6"/>
          <p:cNvSpPr/>
          <p:nvPr/>
        </p:nvSpPr>
        <p:spPr>
          <a:xfrm>
            <a:off x="9734193" y="4622244"/>
            <a:ext cx="2036207" cy="254437"/>
          </a:xfrm>
          <a:prstGeom prst="rect">
            <a:avLst/>
          </a:prstGeom>
          <a:noFill/>
          <a:ln/>
        </p:spPr>
        <p:txBody>
          <a:bodyPr wrap="none" lIns="0" tIns="0" rIns="0" bIns="0" rtlCol="0" anchor="t"/>
          <a:lstStyle/>
          <a:p>
            <a:pPr marL="0" indent="0" algn="l">
              <a:lnSpc>
                <a:spcPts val="2000"/>
              </a:lnSpc>
              <a:buNone/>
            </a:pPr>
            <a:r>
              <a:rPr lang="en-US" sz="1600" b="1" dirty="0">
                <a:solidFill>
                  <a:srgbClr val="3D3838"/>
                </a:solidFill>
                <a:latin typeface="Times New Roman" panose="02020603050405020304" pitchFamily="18" charset="0"/>
                <a:ea typeface="Montserrat Bold" pitchFamily="34" charset="-122"/>
                <a:cs typeface="Times New Roman" panose="02020603050405020304" pitchFamily="18" charset="0"/>
              </a:rPr>
              <a:t>Тренери ШІ</a:t>
            </a:r>
            <a:endParaRPr lang="en-US" sz="1600" dirty="0">
              <a:latin typeface="Times New Roman" panose="02020603050405020304" pitchFamily="18" charset="0"/>
              <a:cs typeface="Times New Roman" panose="02020603050405020304" pitchFamily="18" charset="0"/>
            </a:endParaRPr>
          </a:p>
        </p:txBody>
      </p:sp>
      <p:sp>
        <p:nvSpPr>
          <p:cNvPr id="13" name="Text 7"/>
          <p:cNvSpPr/>
          <p:nvPr/>
        </p:nvSpPr>
        <p:spPr>
          <a:xfrm>
            <a:off x="9734193" y="4984194"/>
            <a:ext cx="3468767" cy="268724"/>
          </a:xfrm>
          <a:prstGeom prst="rect">
            <a:avLst/>
          </a:prstGeom>
          <a:noFill/>
          <a:ln/>
        </p:spPr>
        <p:txBody>
          <a:bodyPr wrap="none" lIns="0" tIns="0" rIns="0" bIns="0" rtlCol="0" anchor="t"/>
          <a:lstStyle/>
          <a:p>
            <a:pPr marL="0" indent="0" algn="l">
              <a:lnSpc>
                <a:spcPts val="2100"/>
              </a:lnSpc>
              <a:buNone/>
            </a:pPr>
            <a:r>
              <a:rPr lang="en-US" sz="1400" dirty="0">
                <a:solidFill>
                  <a:srgbClr val="3D3838"/>
                </a:solidFill>
                <a:latin typeface="Times New Roman" panose="02020603050405020304" pitchFamily="18" charset="0"/>
                <a:ea typeface="Source Sans 3" pitchFamily="34" charset="-122"/>
                <a:cs typeface="Times New Roman" panose="02020603050405020304" pitchFamily="18" charset="0"/>
              </a:rPr>
              <a:t>Навчання та оптимізація алгоритмів.</a:t>
            </a:r>
            <a:endParaRPr lang="en-US" sz="1400" dirty="0">
              <a:latin typeface="Times New Roman" panose="02020603050405020304" pitchFamily="18" charset="0"/>
              <a:cs typeface="Times New Roman" panose="02020603050405020304" pitchFamily="18" charset="0"/>
            </a:endParaRPr>
          </a:p>
        </p:txBody>
      </p:sp>
      <p:pic>
        <p:nvPicPr>
          <p:cNvPr id="14" name="Image 4" descr="preencoded.png"/>
          <p:cNvPicPr>
            <a:picLocks noChangeAspect="1"/>
          </p:cNvPicPr>
          <p:nvPr/>
        </p:nvPicPr>
        <p:blipFill>
          <a:blip r:embed="rId8"/>
          <a:stretch>
            <a:fillRect/>
          </a:stretch>
        </p:blipFill>
        <p:spPr>
          <a:xfrm>
            <a:off x="5254466" y="2877026"/>
            <a:ext cx="4121348" cy="4121348"/>
          </a:xfrm>
          <a:prstGeom prst="rect">
            <a:avLst/>
          </a:prstGeom>
        </p:spPr>
      </p:pic>
      <p:pic>
        <p:nvPicPr>
          <p:cNvPr id="15" name="Image 5" descr="preencoded.png"/>
          <p:cNvPicPr>
            <a:picLocks noChangeAspect="1"/>
          </p:cNvPicPr>
          <p:nvPr/>
        </p:nvPicPr>
        <p:blipFill>
          <a:blip r:embed="rId4">
            <a:extLst>
              <a:ext uri="{96DAC541-7B7A-43D3-8B79-37D633B846F1}">
                <asvg:svgBlip xmlns:asvg="http://schemas.microsoft.com/office/drawing/2016/SVG/main" r:embed="rId9"/>
              </a:ext>
            </a:extLst>
          </a:blip>
          <a:stretch>
            <a:fillRect/>
          </a:stretch>
        </p:blipFill>
        <p:spPr>
          <a:xfrm>
            <a:off x="8250317" y="4811554"/>
            <a:ext cx="251936" cy="251936"/>
          </a:xfrm>
          <a:prstGeom prst="rect">
            <a:avLst/>
          </a:prstGeom>
        </p:spPr>
      </p:pic>
      <p:sp>
        <p:nvSpPr>
          <p:cNvPr id="16" name="Text 8"/>
          <p:cNvSpPr/>
          <p:nvPr/>
        </p:nvSpPr>
        <p:spPr>
          <a:xfrm>
            <a:off x="9375815" y="6085642"/>
            <a:ext cx="2232541" cy="254437"/>
          </a:xfrm>
          <a:prstGeom prst="rect">
            <a:avLst/>
          </a:prstGeom>
          <a:noFill/>
          <a:ln/>
        </p:spPr>
        <p:txBody>
          <a:bodyPr wrap="none" lIns="0" tIns="0" rIns="0" bIns="0" rtlCol="0" anchor="t"/>
          <a:lstStyle/>
          <a:p>
            <a:pPr marL="0" indent="0" algn="l">
              <a:lnSpc>
                <a:spcPts val="2000"/>
              </a:lnSpc>
              <a:buNone/>
            </a:pPr>
            <a:r>
              <a:rPr lang="en-US" sz="1600" b="1" dirty="0">
                <a:solidFill>
                  <a:srgbClr val="3D3838"/>
                </a:solidFill>
                <a:latin typeface="Times New Roman" panose="02020603050405020304" pitchFamily="18" charset="0"/>
                <a:ea typeface="Montserrat Bold" pitchFamily="34" charset="-122"/>
                <a:cs typeface="Times New Roman" panose="02020603050405020304" pitchFamily="18" charset="0"/>
              </a:rPr>
              <a:t>Аналітики даних ШІ</a:t>
            </a:r>
            <a:endParaRPr lang="en-US" sz="1600" dirty="0">
              <a:latin typeface="Times New Roman" panose="02020603050405020304" pitchFamily="18" charset="0"/>
              <a:cs typeface="Times New Roman" panose="02020603050405020304" pitchFamily="18" charset="0"/>
            </a:endParaRPr>
          </a:p>
        </p:txBody>
      </p:sp>
      <p:sp>
        <p:nvSpPr>
          <p:cNvPr id="17" name="Text 9"/>
          <p:cNvSpPr/>
          <p:nvPr/>
        </p:nvSpPr>
        <p:spPr>
          <a:xfrm>
            <a:off x="9375815" y="6447592"/>
            <a:ext cx="3827145" cy="268724"/>
          </a:xfrm>
          <a:prstGeom prst="rect">
            <a:avLst/>
          </a:prstGeom>
          <a:noFill/>
          <a:ln/>
        </p:spPr>
        <p:txBody>
          <a:bodyPr wrap="none" lIns="0" tIns="0" rIns="0" bIns="0" rtlCol="0" anchor="t"/>
          <a:lstStyle/>
          <a:p>
            <a:pPr marL="0" indent="0" algn="l">
              <a:lnSpc>
                <a:spcPts val="2100"/>
              </a:lnSpc>
              <a:buNone/>
            </a:pPr>
            <a:r>
              <a:rPr lang="en-US" sz="1400" dirty="0">
                <a:solidFill>
                  <a:srgbClr val="3D3838"/>
                </a:solidFill>
                <a:latin typeface="Times New Roman" panose="02020603050405020304" pitchFamily="18" charset="0"/>
                <a:ea typeface="Source Sans 3" pitchFamily="34" charset="-122"/>
                <a:cs typeface="Times New Roman" panose="02020603050405020304" pitchFamily="18" charset="0"/>
              </a:rPr>
              <a:t>Інтерпретація та використання результатів.</a:t>
            </a:r>
            <a:endParaRPr lang="en-US" sz="1400" dirty="0">
              <a:latin typeface="Times New Roman" panose="02020603050405020304" pitchFamily="18" charset="0"/>
              <a:cs typeface="Times New Roman" panose="02020603050405020304" pitchFamily="18" charset="0"/>
            </a:endParaRPr>
          </a:p>
        </p:txBody>
      </p:sp>
      <p:pic>
        <p:nvPicPr>
          <p:cNvPr id="18" name="Image 6" descr="preencoded.png"/>
          <p:cNvPicPr>
            <a:picLocks noChangeAspect="1"/>
          </p:cNvPicPr>
          <p:nvPr/>
        </p:nvPicPr>
        <p:blipFill>
          <a:blip r:embed="rId10"/>
          <a:stretch>
            <a:fillRect/>
          </a:stretch>
        </p:blipFill>
        <p:spPr>
          <a:xfrm>
            <a:off x="5254466" y="2877026"/>
            <a:ext cx="4121348" cy="4121348"/>
          </a:xfrm>
          <a:prstGeom prst="rect">
            <a:avLst/>
          </a:prstGeom>
        </p:spPr>
      </p:pic>
      <p:pic>
        <p:nvPicPr>
          <p:cNvPr id="19" name="Image 7" descr="preencoded.png"/>
          <p:cNvPicPr>
            <a:picLocks noChangeAspect="1"/>
          </p:cNvPicPr>
          <p:nvPr/>
        </p:nvPicPr>
        <p:blipFill>
          <a:blip r:embed="rId4">
            <a:extLst>
              <a:ext uri="{96DAC541-7B7A-43D3-8B79-37D633B846F1}">
                <asvg:svgBlip xmlns:asvg="http://schemas.microsoft.com/office/drawing/2016/SVG/main" r:embed="rId11"/>
              </a:ext>
            </a:extLst>
          </a:blip>
          <a:stretch>
            <a:fillRect/>
          </a:stretch>
        </p:blipFill>
        <p:spPr>
          <a:xfrm>
            <a:off x="7517011" y="5820847"/>
            <a:ext cx="251936" cy="251936"/>
          </a:xfrm>
          <a:prstGeom prst="rect">
            <a:avLst/>
          </a:prstGeom>
        </p:spPr>
      </p:pic>
      <p:sp>
        <p:nvSpPr>
          <p:cNvPr id="20" name="Text 10"/>
          <p:cNvSpPr/>
          <p:nvPr/>
        </p:nvSpPr>
        <p:spPr>
          <a:xfrm>
            <a:off x="1427440" y="5592604"/>
            <a:ext cx="3827026" cy="508873"/>
          </a:xfrm>
          <a:prstGeom prst="rect">
            <a:avLst/>
          </a:prstGeom>
          <a:noFill/>
          <a:ln/>
        </p:spPr>
        <p:txBody>
          <a:bodyPr wrap="square" lIns="0" tIns="0" rIns="0" bIns="0" rtlCol="0" anchor="t"/>
          <a:lstStyle/>
          <a:p>
            <a:pPr marL="0" indent="0" algn="r">
              <a:lnSpc>
                <a:spcPts val="2000"/>
              </a:lnSpc>
              <a:buNone/>
            </a:pPr>
            <a:r>
              <a:rPr lang="en-US" sz="1600" b="1" dirty="0">
                <a:solidFill>
                  <a:srgbClr val="3D3838"/>
                </a:solidFill>
                <a:latin typeface="Times New Roman" panose="02020603050405020304" pitchFamily="18" charset="0"/>
                <a:ea typeface="Montserrat Bold" pitchFamily="34" charset="-122"/>
                <a:cs typeface="Times New Roman" panose="02020603050405020304" pitchFamily="18" charset="0"/>
              </a:rPr>
              <a:t>Спеціалісти з людсько-ШІ взаємодії</a:t>
            </a:r>
            <a:endParaRPr lang="en-US" sz="1600" dirty="0">
              <a:latin typeface="Times New Roman" panose="02020603050405020304" pitchFamily="18" charset="0"/>
              <a:cs typeface="Times New Roman" panose="02020603050405020304" pitchFamily="18" charset="0"/>
            </a:endParaRPr>
          </a:p>
        </p:txBody>
      </p:sp>
      <p:sp>
        <p:nvSpPr>
          <p:cNvPr id="21" name="Text 11"/>
          <p:cNvSpPr/>
          <p:nvPr/>
        </p:nvSpPr>
        <p:spPr>
          <a:xfrm>
            <a:off x="1427440" y="6208990"/>
            <a:ext cx="3827026" cy="268724"/>
          </a:xfrm>
          <a:prstGeom prst="rect">
            <a:avLst/>
          </a:prstGeom>
          <a:noFill/>
          <a:ln/>
        </p:spPr>
        <p:txBody>
          <a:bodyPr wrap="none" lIns="0" tIns="0" rIns="0" bIns="0" rtlCol="0" anchor="t"/>
          <a:lstStyle/>
          <a:p>
            <a:pPr marL="0" indent="0" algn="r">
              <a:lnSpc>
                <a:spcPts val="2100"/>
              </a:lnSpc>
              <a:buNone/>
            </a:pPr>
            <a:r>
              <a:rPr lang="en-US" sz="1400" dirty="0">
                <a:solidFill>
                  <a:srgbClr val="3D3838"/>
                </a:solidFill>
                <a:latin typeface="Times New Roman" panose="02020603050405020304" pitchFamily="18" charset="0"/>
                <a:ea typeface="Source Sans 3" pitchFamily="34" charset="-122"/>
                <a:cs typeface="Times New Roman" panose="02020603050405020304" pitchFamily="18" charset="0"/>
              </a:rPr>
              <a:t>Розробка інтуїтивних інтерфейсів.</a:t>
            </a:r>
            <a:endParaRPr lang="en-US" sz="1400" dirty="0">
              <a:latin typeface="Times New Roman" panose="02020603050405020304" pitchFamily="18" charset="0"/>
              <a:cs typeface="Times New Roman" panose="02020603050405020304" pitchFamily="18" charset="0"/>
            </a:endParaRPr>
          </a:p>
        </p:txBody>
      </p:sp>
      <p:pic>
        <p:nvPicPr>
          <p:cNvPr id="22" name="Image 8" descr="preencoded.png"/>
          <p:cNvPicPr>
            <a:picLocks noChangeAspect="1"/>
          </p:cNvPicPr>
          <p:nvPr/>
        </p:nvPicPr>
        <p:blipFill>
          <a:blip r:embed="rId12"/>
          <a:stretch>
            <a:fillRect/>
          </a:stretch>
        </p:blipFill>
        <p:spPr>
          <a:xfrm>
            <a:off x="5254466" y="2877026"/>
            <a:ext cx="4121348" cy="4121348"/>
          </a:xfrm>
          <a:prstGeom prst="rect">
            <a:avLst/>
          </a:prstGeom>
        </p:spPr>
      </p:pic>
      <p:pic>
        <p:nvPicPr>
          <p:cNvPr id="23" name="Image 9" descr="preencoded.png"/>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6330553" y="5435322"/>
            <a:ext cx="251936" cy="251936"/>
          </a:xfrm>
          <a:prstGeom prst="rect">
            <a:avLst/>
          </a:prstGeom>
        </p:spPr>
      </p:pic>
      <p:sp>
        <p:nvSpPr>
          <p:cNvPr id="24" name="Text 12"/>
          <p:cNvSpPr/>
          <p:nvPr/>
        </p:nvSpPr>
        <p:spPr>
          <a:xfrm>
            <a:off x="1427440" y="7199948"/>
            <a:ext cx="11775519" cy="537448"/>
          </a:xfrm>
          <a:prstGeom prst="rect">
            <a:avLst/>
          </a:prstGeom>
          <a:noFill/>
          <a:ln/>
        </p:spPr>
        <p:txBody>
          <a:bodyPr wrap="square" lIns="0" tIns="0" rIns="0" bIns="0" rtlCol="0" anchor="t"/>
          <a:lstStyle/>
          <a:p>
            <a:pPr marL="0" indent="0" algn="l">
              <a:lnSpc>
                <a:spcPts val="2100"/>
              </a:lnSpc>
              <a:buNone/>
            </a:pPr>
            <a:r>
              <a:rPr lang="en-US" sz="1400" dirty="0">
                <a:solidFill>
                  <a:srgbClr val="3D3838"/>
                </a:solidFill>
                <a:latin typeface="Times New Roman" panose="02020603050405020304" pitchFamily="18" charset="0"/>
                <a:ea typeface="Source Sans 3" pitchFamily="34" charset="-122"/>
                <a:cs typeface="Times New Roman" panose="02020603050405020304" pitchFamily="18" charset="0"/>
              </a:rPr>
              <a:t>Акцент зміщується на креативні, стратегічні та соціальні навички, які важко автоматизувати. Необхідність у безперервному навчанні та перекваліфікації стане нормою, що дозволить працівникам адаптуватися до нових вимог.</a:t>
            </a:r>
            <a:endParaRPr lang="en-US" sz="1400" dirty="0">
              <a:latin typeface="Times New Roman" panose="02020603050405020304" pitchFamily="18" charset="0"/>
              <a:cs typeface="Times New Roman" panose="02020603050405020304" pitchFamily="18" charset="0"/>
            </a:endParaRPr>
          </a:p>
        </p:txBody>
      </p:sp>
      <p:pic>
        <p:nvPicPr>
          <p:cNvPr id="25" name="Рисунок 24">
            <a:extLst>
              <a:ext uri="{FF2B5EF4-FFF2-40B4-BE49-F238E27FC236}">
                <a16:creationId xmlns:a16="http://schemas.microsoft.com/office/drawing/2014/main" id="{BEFA532F-6A43-4799-AC50-D92269BEA102}"/>
              </a:ext>
            </a:extLst>
          </p:cNvPr>
          <p:cNvPicPr>
            <a:picLocks noChangeAspect="1"/>
          </p:cNvPicPr>
          <p:nvPr/>
        </p:nvPicPr>
        <p:blipFill>
          <a:blip r:embed="rId14"/>
          <a:stretch>
            <a:fillRect/>
          </a:stretch>
        </p:blipFill>
        <p:spPr>
          <a:xfrm>
            <a:off x="12502901" y="7772360"/>
            <a:ext cx="2095682" cy="4572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81990" y="727115"/>
            <a:ext cx="7780020" cy="968693"/>
          </a:xfrm>
          <a:prstGeom prst="rect">
            <a:avLst/>
          </a:prstGeom>
          <a:noFill/>
          <a:ln/>
        </p:spPr>
        <p:txBody>
          <a:bodyPr wrap="square" lIns="0" tIns="0" rIns="0" bIns="0" rtlCol="0" anchor="t"/>
          <a:lstStyle/>
          <a:p>
            <a:pPr marL="0" indent="0" algn="l">
              <a:lnSpc>
                <a:spcPts val="3800"/>
              </a:lnSpc>
              <a:buNone/>
            </a:pPr>
            <a:r>
              <a:rPr lang="en-US" sz="3050" b="1" dirty="0">
                <a:solidFill>
                  <a:srgbClr val="000000"/>
                </a:solidFill>
                <a:latin typeface="Times New Roman" panose="02020603050405020304" pitchFamily="18" charset="0"/>
                <a:ea typeface="Montserrat Bold" pitchFamily="34" charset="-122"/>
                <a:cs typeface="Times New Roman" panose="02020603050405020304" pitchFamily="18" charset="0"/>
              </a:rPr>
              <a:t>Кібербезпека та ШІ: Битва між атаками та захистом</a:t>
            </a:r>
            <a:endParaRPr lang="en-US" sz="3050" dirty="0">
              <a:latin typeface="Times New Roman" panose="02020603050405020304" pitchFamily="18" charset="0"/>
              <a:cs typeface="Times New Roman" panose="02020603050405020304" pitchFamily="18" charset="0"/>
            </a:endParaRPr>
          </a:p>
        </p:txBody>
      </p:sp>
      <p:sp>
        <p:nvSpPr>
          <p:cNvPr id="4" name="Text 1"/>
          <p:cNvSpPr/>
          <p:nvPr/>
        </p:nvSpPr>
        <p:spPr>
          <a:xfrm>
            <a:off x="681990" y="1951553"/>
            <a:ext cx="7780020" cy="767239"/>
          </a:xfrm>
          <a:prstGeom prst="rect">
            <a:avLst/>
          </a:prstGeom>
          <a:noFill/>
          <a:ln/>
        </p:spPr>
        <p:txBody>
          <a:bodyPr wrap="square" lIns="0" tIns="0" rIns="0" bIns="0" rtlCol="0" anchor="t"/>
          <a:lstStyle/>
          <a:p>
            <a:pPr marL="0" indent="0" algn="l">
              <a:lnSpc>
                <a:spcPts val="2000"/>
              </a:lnSpc>
              <a:buNone/>
            </a:pPr>
            <a:r>
              <a:rPr lang="en-US" sz="1300" dirty="0">
                <a:solidFill>
                  <a:srgbClr val="3D3838"/>
                </a:solidFill>
                <a:latin typeface="Times New Roman" panose="02020603050405020304" pitchFamily="18" charset="0"/>
                <a:ea typeface="Source Sans 3" pitchFamily="34" charset="-122"/>
                <a:cs typeface="Times New Roman" panose="02020603050405020304" pitchFamily="18" charset="0"/>
              </a:rPr>
              <a:t>У 2026 році поле бою кібербезпеки буде ще більше визначатися протистоянням між ШІ-атаками та ШІ-захистом. З одного боку, зловмисники використовуватимуть штучний інтелект для створення складніших та більш адаптивних вірусів, фішингових кампаній та атак нульового дня.</a:t>
            </a:r>
            <a:endParaRPr lang="en-US" sz="1300" dirty="0">
              <a:latin typeface="Times New Roman" panose="02020603050405020304" pitchFamily="18" charset="0"/>
              <a:cs typeface="Times New Roman" panose="02020603050405020304" pitchFamily="18" charset="0"/>
            </a:endParaRPr>
          </a:p>
        </p:txBody>
      </p:sp>
      <p:sp>
        <p:nvSpPr>
          <p:cNvPr id="5" name="Shape 2"/>
          <p:cNvSpPr/>
          <p:nvPr/>
        </p:nvSpPr>
        <p:spPr>
          <a:xfrm>
            <a:off x="681990" y="3166348"/>
            <a:ext cx="3804761" cy="1475423"/>
          </a:xfrm>
          <a:prstGeom prst="roundRect">
            <a:avLst>
              <a:gd name="adj" fmla="val 7437"/>
            </a:avLst>
          </a:prstGeom>
          <a:solidFill>
            <a:srgbClr val="FFFFFF"/>
          </a:solidFill>
          <a:ln/>
        </p:spPr>
      </p:sp>
      <p:sp>
        <p:nvSpPr>
          <p:cNvPr id="6" name="Shape 3"/>
          <p:cNvSpPr/>
          <p:nvPr/>
        </p:nvSpPr>
        <p:spPr>
          <a:xfrm>
            <a:off x="681990" y="3143488"/>
            <a:ext cx="3804761" cy="91440"/>
          </a:xfrm>
          <a:prstGeom prst="roundRect">
            <a:avLst>
              <a:gd name="adj" fmla="val 27971"/>
            </a:avLst>
          </a:prstGeom>
          <a:solidFill>
            <a:srgbClr val="2D2E34"/>
          </a:solidFill>
          <a:ln/>
        </p:spPr>
      </p:sp>
      <p:sp>
        <p:nvSpPr>
          <p:cNvPr id="7" name="Shape 4"/>
          <p:cNvSpPr/>
          <p:nvPr/>
        </p:nvSpPr>
        <p:spPr>
          <a:xfrm>
            <a:off x="2328624" y="2910602"/>
            <a:ext cx="511492" cy="511493"/>
          </a:xfrm>
          <a:prstGeom prst="roundRect">
            <a:avLst>
              <a:gd name="adj" fmla="val 178771"/>
            </a:avLst>
          </a:prstGeom>
          <a:solidFill>
            <a:srgbClr val="2D2E34"/>
          </a:solidFill>
          <a:ln/>
        </p:spPr>
      </p:sp>
      <p:sp>
        <p:nvSpPr>
          <p:cNvPr id="8" name="Text 5"/>
          <p:cNvSpPr/>
          <p:nvPr/>
        </p:nvSpPr>
        <p:spPr>
          <a:xfrm>
            <a:off x="2482096" y="3038475"/>
            <a:ext cx="204549" cy="255746"/>
          </a:xfrm>
          <a:prstGeom prst="rect">
            <a:avLst/>
          </a:prstGeom>
          <a:noFill/>
          <a:ln/>
        </p:spPr>
        <p:txBody>
          <a:bodyPr wrap="none" lIns="0" tIns="0" rIns="0" bIns="0" rtlCol="0" anchor="t"/>
          <a:lstStyle/>
          <a:p>
            <a:pPr marL="0" indent="0" algn="l">
              <a:lnSpc>
                <a:spcPts val="2400"/>
              </a:lnSpc>
              <a:buNone/>
            </a:pPr>
            <a:r>
              <a:rPr lang="en-US" sz="1600" b="1" dirty="0">
                <a:solidFill>
                  <a:srgbClr val="FFFFFF"/>
                </a:solidFill>
                <a:latin typeface="Times New Roman" panose="02020603050405020304" pitchFamily="18" charset="0"/>
                <a:ea typeface="Montserrat Bold" pitchFamily="34" charset="-122"/>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p:txBody>
      </p:sp>
      <p:sp>
        <p:nvSpPr>
          <p:cNvPr id="9" name="Text 6"/>
          <p:cNvSpPr/>
          <p:nvPr/>
        </p:nvSpPr>
        <p:spPr>
          <a:xfrm>
            <a:off x="875348" y="3592592"/>
            <a:ext cx="1937504" cy="242054"/>
          </a:xfrm>
          <a:prstGeom prst="rect">
            <a:avLst/>
          </a:prstGeom>
          <a:noFill/>
          <a:ln/>
        </p:spPr>
        <p:txBody>
          <a:bodyPr wrap="none" lIns="0" tIns="0" rIns="0" bIns="0" rtlCol="0" anchor="t"/>
          <a:lstStyle/>
          <a:p>
            <a:pPr marL="0" indent="0" algn="l">
              <a:lnSpc>
                <a:spcPts val="1900"/>
              </a:lnSpc>
              <a:buNone/>
            </a:pPr>
            <a:r>
              <a:rPr lang="en-US" sz="1500" b="1" dirty="0">
                <a:solidFill>
                  <a:srgbClr val="3D3838"/>
                </a:solidFill>
                <a:latin typeface="Times New Roman" panose="02020603050405020304" pitchFamily="18" charset="0"/>
                <a:ea typeface="Montserrat Bold" pitchFamily="34" charset="-122"/>
                <a:cs typeface="Times New Roman" panose="02020603050405020304" pitchFamily="18" charset="0"/>
              </a:rPr>
              <a:t>ШІ-атаки</a:t>
            </a:r>
            <a:endParaRPr lang="en-US" sz="1500" dirty="0">
              <a:latin typeface="Times New Roman" panose="02020603050405020304" pitchFamily="18" charset="0"/>
              <a:cs typeface="Times New Roman" panose="02020603050405020304" pitchFamily="18" charset="0"/>
            </a:endParaRPr>
          </a:p>
        </p:txBody>
      </p:sp>
      <p:sp>
        <p:nvSpPr>
          <p:cNvPr id="10" name="Text 7"/>
          <p:cNvSpPr/>
          <p:nvPr/>
        </p:nvSpPr>
        <p:spPr>
          <a:xfrm>
            <a:off x="875348" y="3936921"/>
            <a:ext cx="3418046" cy="511493"/>
          </a:xfrm>
          <a:prstGeom prst="rect">
            <a:avLst/>
          </a:prstGeom>
          <a:noFill/>
          <a:ln/>
        </p:spPr>
        <p:txBody>
          <a:bodyPr wrap="square" lIns="0" tIns="0" rIns="0" bIns="0" rtlCol="0" anchor="t"/>
          <a:lstStyle/>
          <a:p>
            <a:pPr marL="0" indent="0" algn="l">
              <a:lnSpc>
                <a:spcPts val="2000"/>
              </a:lnSpc>
              <a:buNone/>
            </a:pPr>
            <a:r>
              <a:rPr lang="en-US" sz="1300" dirty="0">
                <a:solidFill>
                  <a:srgbClr val="3D3838"/>
                </a:solidFill>
                <a:latin typeface="Times New Roman" panose="02020603050405020304" pitchFamily="18" charset="0"/>
                <a:ea typeface="Source Sans 3" pitchFamily="34" charset="-122"/>
                <a:cs typeface="Times New Roman" panose="02020603050405020304" pitchFamily="18" charset="0"/>
              </a:rPr>
              <a:t>Автоматизоване генерування шкідливого коду та фішингу.</a:t>
            </a:r>
            <a:endParaRPr lang="en-US" sz="1300" dirty="0">
              <a:latin typeface="Times New Roman" panose="02020603050405020304" pitchFamily="18" charset="0"/>
              <a:cs typeface="Times New Roman" panose="02020603050405020304" pitchFamily="18" charset="0"/>
            </a:endParaRPr>
          </a:p>
        </p:txBody>
      </p:sp>
      <p:sp>
        <p:nvSpPr>
          <p:cNvPr id="11" name="Shape 8"/>
          <p:cNvSpPr/>
          <p:nvPr/>
        </p:nvSpPr>
        <p:spPr>
          <a:xfrm>
            <a:off x="4657249" y="3166348"/>
            <a:ext cx="3804761" cy="1475423"/>
          </a:xfrm>
          <a:prstGeom prst="roundRect">
            <a:avLst>
              <a:gd name="adj" fmla="val 7437"/>
            </a:avLst>
          </a:prstGeom>
          <a:solidFill>
            <a:srgbClr val="FFFFFF"/>
          </a:solidFill>
          <a:ln/>
        </p:spPr>
      </p:sp>
      <p:sp>
        <p:nvSpPr>
          <p:cNvPr id="12" name="Shape 9"/>
          <p:cNvSpPr/>
          <p:nvPr/>
        </p:nvSpPr>
        <p:spPr>
          <a:xfrm>
            <a:off x="4657249" y="3143488"/>
            <a:ext cx="3804761" cy="91440"/>
          </a:xfrm>
          <a:prstGeom prst="roundRect">
            <a:avLst>
              <a:gd name="adj" fmla="val 27971"/>
            </a:avLst>
          </a:prstGeom>
          <a:solidFill>
            <a:srgbClr val="2D2E34"/>
          </a:solidFill>
          <a:ln/>
        </p:spPr>
      </p:sp>
      <p:sp>
        <p:nvSpPr>
          <p:cNvPr id="13" name="Shape 10"/>
          <p:cNvSpPr/>
          <p:nvPr/>
        </p:nvSpPr>
        <p:spPr>
          <a:xfrm>
            <a:off x="6303883" y="2910602"/>
            <a:ext cx="511492" cy="511493"/>
          </a:xfrm>
          <a:prstGeom prst="roundRect">
            <a:avLst>
              <a:gd name="adj" fmla="val 178771"/>
            </a:avLst>
          </a:prstGeom>
          <a:solidFill>
            <a:srgbClr val="2D2E34"/>
          </a:solidFill>
          <a:ln/>
        </p:spPr>
      </p:sp>
      <p:sp>
        <p:nvSpPr>
          <p:cNvPr id="14" name="Text 11"/>
          <p:cNvSpPr/>
          <p:nvPr/>
        </p:nvSpPr>
        <p:spPr>
          <a:xfrm>
            <a:off x="6457355" y="3038475"/>
            <a:ext cx="204549" cy="255746"/>
          </a:xfrm>
          <a:prstGeom prst="rect">
            <a:avLst/>
          </a:prstGeom>
          <a:noFill/>
          <a:ln/>
        </p:spPr>
        <p:txBody>
          <a:bodyPr wrap="none" lIns="0" tIns="0" rIns="0" bIns="0" rtlCol="0" anchor="t"/>
          <a:lstStyle/>
          <a:p>
            <a:pPr marL="0" indent="0" algn="l">
              <a:lnSpc>
                <a:spcPts val="2400"/>
              </a:lnSpc>
              <a:buNone/>
            </a:pPr>
            <a:r>
              <a:rPr lang="en-US" sz="1600" b="1" dirty="0">
                <a:solidFill>
                  <a:srgbClr val="FFFFFF"/>
                </a:solidFill>
                <a:latin typeface="Times New Roman" panose="02020603050405020304" pitchFamily="18" charset="0"/>
                <a:ea typeface="Montserrat Bold" pitchFamily="34" charset="-122"/>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p:txBody>
      </p:sp>
      <p:sp>
        <p:nvSpPr>
          <p:cNvPr id="15" name="Text 12"/>
          <p:cNvSpPr/>
          <p:nvPr/>
        </p:nvSpPr>
        <p:spPr>
          <a:xfrm>
            <a:off x="4850606" y="3592592"/>
            <a:ext cx="1937504" cy="242054"/>
          </a:xfrm>
          <a:prstGeom prst="rect">
            <a:avLst/>
          </a:prstGeom>
          <a:noFill/>
          <a:ln/>
        </p:spPr>
        <p:txBody>
          <a:bodyPr wrap="none" lIns="0" tIns="0" rIns="0" bIns="0" rtlCol="0" anchor="t"/>
          <a:lstStyle/>
          <a:p>
            <a:pPr marL="0" indent="0" algn="l">
              <a:lnSpc>
                <a:spcPts val="1900"/>
              </a:lnSpc>
              <a:buNone/>
            </a:pPr>
            <a:r>
              <a:rPr lang="en-US" sz="1500" b="1" dirty="0">
                <a:solidFill>
                  <a:srgbClr val="3D3838"/>
                </a:solidFill>
                <a:latin typeface="Times New Roman" panose="02020603050405020304" pitchFamily="18" charset="0"/>
                <a:ea typeface="Montserrat Bold" pitchFamily="34" charset="-122"/>
                <a:cs typeface="Times New Roman" panose="02020603050405020304" pitchFamily="18" charset="0"/>
              </a:rPr>
              <a:t>ШІ-захист</a:t>
            </a:r>
            <a:endParaRPr lang="en-US" sz="1500" dirty="0">
              <a:latin typeface="Times New Roman" panose="02020603050405020304" pitchFamily="18" charset="0"/>
              <a:cs typeface="Times New Roman" panose="02020603050405020304" pitchFamily="18" charset="0"/>
            </a:endParaRPr>
          </a:p>
        </p:txBody>
      </p:sp>
      <p:sp>
        <p:nvSpPr>
          <p:cNvPr id="16" name="Text 13"/>
          <p:cNvSpPr/>
          <p:nvPr/>
        </p:nvSpPr>
        <p:spPr>
          <a:xfrm>
            <a:off x="4850606" y="3936921"/>
            <a:ext cx="3418046" cy="511493"/>
          </a:xfrm>
          <a:prstGeom prst="rect">
            <a:avLst/>
          </a:prstGeom>
          <a:noFill/>
          <a:ln/>
        </p:spPr>
        <p:txBody>
          <a:bodyPr wrap="square" lIns="0" tIns="0" rIns="0" bIns="0" rtlCol="0" anchor="t"/>
          <a:lstStyle/>
          <a:p>
            <a:pPr marL="0" indent="0" algn="l">
              <a:lnSpc>
                <a:spcPts val="2000"/>
              </a:lnSpc>
              <a:buNone/>
            </a:pPr>
            <a:r>
              <a:rPr lang="en-US" sz="1300" dirty="0">
                <a:solidFill>
                  <a:srgbClr val="3D3838"/>
                </a:solidFill>
                <a:latin typeface="Times New Roman" panose="02020603050405020304" pitchFamily="18" charset="0"/>
                <a:ea typeface="Source Sans 3" pitchFamily="34" charset="-122"/>
                <a:cs typeface="Times New Roman" panose="02020603050405020304" pitchFamily="18" charset="0"/>
              </a:rPr>
              <a:t>Системи виявлення аномалій та предиктивного захисту.</a:t>
            </a:r>
            <a:endParaRPr lang="en-US" sz="1300" dirty="0">
              <a:latin typeface="Times New Roman" panose="02020603050405020304" pitchFamily="18" charset="0"/>
              <a:cs typeface="Times New Roman" panose="02020603050405020304" pitchFamily="18" charset="0"/>
            </a:endParaRPr>
          </a:p>
        </p:txBody>
      </p:sp>
      <p:sp>
        <p:nvSpPr>
          <p:cNvPr id="17" name="Shape 14"/>
          <p:cNvSpPr/>
          <p:nvPr/>
        </p:nvSpPr>
        <p:spPr>
          <a:xfrm>
            <a:off x="681990" y="5068014"/>
            <a:ext cx="7780020" cy="1219676"/>
          </a:xfrm>
          <a:prstGeom prst="roundRect">
            <a:avLst>
              <a:gd name="adj" fmla="val 8996"/>
            </a:avLst>
          </a:prstGeom>
          <a:solidFill>
            <a:srgbClr val="FFFFFF"/>
          </a:solidFill>
          <a:ln/>
        </p:spPr>
      </p:sp>
      <p:sp>
        <p:nvSpPr>
          <p:cNvPr id="18" name="Shape 15"/>
          <p:cNvSpPr/>
          <p:nvPr/>
        </p:nvSpPr>
        <p:spPr>
          <a:xfrm>
            <a:off x="681990" y="5045154"/>
            <a:ext cx="7780020" cy="91440"/>
          </a:xfrm>
          <a:prstGeom prst="roundRect">
            <a:avLst>
              <a:gd name="adj" fmla="val 27971"/>
            </a:avLst>
          </a:prstGeom>
          <a:solidFill>
            <a:srgbClr val="2D2E34"/>
          </a:solidFill>
          <a:ln/>
        </p:spPr>
      </p:sp>
      <p:sp>
        <p:nvSpPr>
          <p:cNvPr id="19" name="Shape 16"/>
          <p:cNvSpPr/>
          <p:nvPr/>
        </p:nvSpPr>
        <p:spPr>
          <a:xfrm>
            <a:off x="4316254" y="4812268"/>
            <a:ext cx="511492" cy="511493"/>
          </a:xfrm>
          <a:prstGeom prst="roundRect">
            <a:avLst>
              <a:gd name="adj" fmla="val 178771"/>
            </a:avLst>
          </a:prstGeom>
          <a:solidFill>
            <a:srgbClr val="2D2E34"/>
          </a:solidFill>
          <a:ln/>
        </p:spPr>
      </p:sp>
      <p:sp>
        <p:nvSpPr>
          <p:cNvPr id="20" name="Text 17"/>
          <p:cNvSpPr/>
          <p:nvPr/>
        </p:nvSpPr>
        <p:spPr>
          <a:xfrm>
            <a:off x="4469725" y="4940141"/>
            <a:ext cx="204549" cy="255746"/>
          </a:xfrm>
          <a:prstGeom prst="rect">
            <a:avLst/>
          </a:prstGeom>
          <a:noFill/>
          <a:ln/>
        </p:spPr>
        <p:txBody>
          <a:bodyPr wrap="none" lIns="0" tIns="0" rIns="0" bIns="0" rtlCol="0" anchor="t"/>
          <a:lstStyle/>
          <a:p>
            <a:pPr marL="0" indent="0" algn="l">
              <a:lnSpc>
                <a:spcPts val="2400"/>
              </a:lnSpc>
              <a:buNone/>
            </a:pPr>
            <a:r>
              <a:rPr lang="en-US" sz="1600" b="1" dirty="0">
                <a:solidFill>
                  <a:srgbClr val="FFFFFF"/>
                </a:solidFill>
                <a:latin typeface="Times New Roman" panose="02020603050405020304" pitchFamily="18" charset="0"/>
                <a:ea typeface="Montserrat Bold" pitchFamily="34" charset="-122"/>
                <a:cs typeface="Times New Roman" panose="02020603050405020304" pitchFamily="18" charset="0"/>
              </a:rPr>
              <a:t>3</a:t>
            </a:r>
            <a:endParaRPr lang="en-US" sz="1600" dirty="0">
              <a:latin typeface="Times New Roman" panose="02020603050405020304" pitchFamily="18" charset="0"/>
              <a:cs typeface="Times New Roman" panose="02020603050405020304" pitchFamily="18" charset="0"/>
            </a:endParaRPr>
          </a:p>
        </p:txBody>
      </p:sp>
      <p:sp>
        <p:nvSpPr>
          <p:cNvPr id="21" name="Text 18"/>
          <p:cNvSpPr/>
          <p:nvPr/>
        </p:nvSpPr>
        <p:spPr>
          <a:xfrm>
            <a:off x="875348" y="5494258"/>
            <a:ext cx="1937504" cy="242054"/>
          </a:xfrm>
          <a:prstGeom prst="rect">
            <a:avLst/>
          </a:prstGeom>
          <a:noFill/>
          <a:ln/>
        </p:spPr>
        <p:txBody>
          <a:bodyPr wrap="none" lIns="0" tIns="0" rIns="0" bIns="0" rtlCol="0" anchor="t"/>
          <a:lstStyle/>
          <a:p>
            <a:pPr marL="0" indent="0" algn="l">
              <a:lnSpc>
                <a:spcPts val="1900"/>
              </a:lnSpc>
              <a:buNone/>
            </a:pPr>
            <a:r>
              <a:rPr lang="en-US" sz="1500" b="1" dirty="0">
                <a:solidFill>
                  <a:srgbClr val="3D3838"/>
                </a:solidFill>
                <a:latin typeface="Times New Roman" panose="02020603050405020304" pitchFamily="18" charset="0"/>
                <a:ea typeface="Montserrat Bold" pitchFamily="34" charset="-122"/>
                <a:cs typeface="Times New Roman" panose="02020603050405020304" pitchFamily="18" charset="0"/>
              </a:rPr>
              <a:t>"Гонка озброєнь"</a:t>
            </a:r>
            <a:endParaRPr lang="en-US" sz="1500" dirty="0">
              <a:latin typeface="Times New Roman" panose="02020603050405020304" pitchFamily="18" charset="0"/>
              <a:cs typeface="Times New Roman" panose="02020603050405020304" pitchFamily="18" charset="0"/>
            </a:endParaRPr>
          </a:p>
        </p:txBody>
      </p:sp>
      <p:sp>
        <p:nvSpPr>
          <p:cNvPr id="22" name="Text 19"/>
          <p:cNvSpPr/>
          <p:nvPr/>
        </p:nvSpPr>
        <p:spPr>
          <a:xfrm>
            <a:off x="875348" y="5838587"/>
            <a:ext cx="7393305" cy="255746"/>
          </a:xfrm>
          <a:prstGeom prst="rect">
            <a:avLst/>
          </a:prstGeom>
          <a:noFill/>
          <a:ln/>
        </p:spPr>
        <p:txBody>
          <a:bodyPr wrap="none" lIns="0" tIns="0" rIns="0" bIns="0" rtlCol="0" anchor="t"/>
          <a:lstStyle/>
          <a:p>
            <a:pPr marL="0" indent="0" algn="l">
              <a:lnSpc>
                <a:spcPts val="2000"/>
              </a:lnSpc>
              <a:buNone/>
            </a:pPr>
            <a:r>
              <a:rPr lang="en-US" sz="1300" dirty="0">
                <a:solidFill>
                  <a:srgbClr val="3D3838"/>
                </a:solidFill>
                <a:latin typeface="Times New Roman" panose="02020603050405020304" pitchFamily="18" charset="0"/>
                <a:ea typeface="Source Sans 3" pitchFamily="34" charset="-122"/>
                <a:cs typeface="Times New Roman" panose="02020603050405020304" pitchFamily="18" charset="0"/>
              </a:rPr>
              <a:t>Постійна еволюція методів атаки та захисту.</a:t>
            </a:r>
            <a:endParaRPr lang="en-US" sz="1300" dirty="0">
              <a:latin typeface="Times New Roman" panose="02020603050405020304" pitchFamily="18" charset="0"/>
              <a:cs typeface="Times New Roman" panose="02020603050405020304" pitchFamily="18" charset="0"/>
            </a:endParaRPr>
          </a:p>
        </p:txBody>
      </p:sp>
      <p:sp>
        <p:nvSpPr>
          <p:cNvPr id="23" name="Text 20"/>
          <p:cNvSpPr/>
          <p:nvPr/>
        </p:nvSpPr>
        <p:spPr>
          <a:xfrm>
            <a:off x="681990" y="6479500"/>
            <a:ext cx="7780020" cy="1022985"/>
          </a:xfrm>
          <a:prstGeom prst="rect">
            <a:avLst/>
          </a:prstGeom>
          <a:noFill/>
          <a:ln/>
        </p:spPr>
        <p:txBody>
          <a:bodyPr wrap="square" lIns="0" tIns="0" rIns="0" bIns="0" rtlCol="0" anchor="t"/>
          <a:lstStyle/>
          <a:p>
            <a:pPr marL="0" indent="0" algn="l">
              <a:lnSpc>
                <a:spcPts val="2000"/>
              </a:lnSpc>
              <a:buNone/>
            </a:pPr>
            <a:r>
              <a:rPr lang="en-US" sz="1300" dirty="0">
                <a:solidFill>
                  <a:srgbClr val="3D3838"/>
                </a:solidFill>
                <a:latin typeface="Times New Roman" panose="02020603050405020304" pitchFamily="18" charset="0"/>
                <a:ea typeface="Source Sans 3" pitchFamily="34" charset="-122"/>
                <a:cs typeface="Times New Roman" panose="02020603050405020304" pitchFamily="18" charset="0"/>
              </a:rPr>
              <a:t>З іншого боку, ШІ стане найпотужнішим інструментом для захисту. Системи кібербезпеки, що базуються на штучному інтелекті, зможуть виявляти аномалії, прогнозувати загрози та автоматично реагувати на атаки значно швидше та ефективніше, ніж людські аналітики. Ця "гонка озброєнь" між нападниками та захисниками буде одним із ключових трендів.</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90788" y="1279803"/>
            <a:ext cx="7962424" cy="839391"/>
          </a:xfrm>
          <a:prstGeom prst="rect">
            <a:avLst/>
          </a:prstGeom>
          <a:noFill/>
          <a:ln/>
        </p:spPr>
        <p:txBody>
          <a:bodyPr wrap="square" lIns="0" tIns="0" rIns="0" bIns="0" rtlCol="0" anchor="t"/>
          <a:lstStyle/>
          <a:p>
            <a:pPr marL="0" indent="0" algn="l">
              <a:lnSpc>
                <a:spcPts val="3300"/>
              </a:lnSpc>
              <a:buNone/>
            </a:pPr>
            <a:r>
              <a:rPr lang="en-US" sz="2600" b="1" dirty="0">
                <a:solidFill>
                  <a:srgbClr val="000000"/>
                </a:solidFill>
                <a:latin typeface="Times New Roman" panose="02020603050405020304" pitchFamily="18" charset="0"/>
                <a:ea typeface="Montserrat Bold" pitchFamily="34" charset="-122"/>
                <a:cs typeface="Times New Roman" panose="02020603050405020304" pitchFamily="18" charset="0"/>
              </a:rPr>
              <a:t>Прогноз 2026: Мої сміливі передбачення щодо розвитку ШІ</a:t>
            </a:r>
            <a:endParaRPr lang="en-US" sz="2600" dirty="0">
              <a:latin typeface="Times New Roman" panose="02020603050405020304" pitchFamily="18" charset="0"/>
              <a:cs typeface="Times New Roman" panose="02020603050405020304" pitchFamily="18" charset="0"/>
            </a:endParaRPr>
          </a:p>
        </p:txBody>
      </p:sp>
      <p:sp>
        <p:nvSpPr>
          <p:cNvPr id="4" name="Text 1"/>
          <p:cNvSpPr/>
          <p:nvPr/>
        </p:nvSpPr>
        <p:spPr>
          <a:xfrm>
            <a:off x="590788" y="2340769"/>
            <a:ext cx="7962424" cy="664726"/>
          </a:xfrm>
          <a:prstGeom prst="rect">
            <a:avLst/>
          </a:prstGeom>
          <a:noFill/>
          <a:ln/>
        </p:spPr>
        <p:txBody>
          <a:bodyPr wrap="square" lIns="0" tIns="0" rIns="0" bIns="0" rtlCol="0" anchor="t"/>
          <a:lstStyle/>
          <a:p>
            <a:pPr marL="0" indent="0" algn="l">
              <a:lnSpc>
                <a:spcPts val="1700"/>
              </a:lnSpc>
              <a:buNone/>
            </a:pPr>
            <a:r>
              <a:rPr lang="en-US" sz="1150" dirty="0">
                <a:solidFill>
                  <a:srgbClr val="3D3838"/>
                </a:solidFill>
                <a:latin typeface="Times New Roman" panose="02020603050405020304" pitchFamily="18" charset="0"/>
                <a:ea typeface="Source Sans 3" pitchFamily="34" charset="-122"/>
                <a:cs typeface="Times New Roman" panose="02020603050405020304" pitchFamily="18" charset="0"/>
              </a:rPr>
              <a:t>Після глибокого аналізу проривів 2025 року та поточних тенденцій, я дозволю собі зробити кілька сміливих прогнозів щодо розвитку ШІ у 2026 році. Ці передбачення можуть здатися амбітними, але вони ґрунтуються на швидкості інновацій, яку ми спостерігаємо.</a:t>
            </a:r>
            <a:endParaRPr lang="en-US" sz="1150" dirty="0">
              <a:latin typeface="Times New Roman" panose="02020603050405020304" pitchFamily="18" charset="0"/>
              <a:cs typeface="Times New Roman" panose="02020603050405020304" pitchFamily="18" charset="0"/>
            </a:endParaRPr>
          </a:p>
        </p:txBody>
      </p:sp>
      <p:sp>
        <p:nvSpPr>
          <p:cNvPr id="5" name="Shape 2"/>
          <p:cNvSpPr/>
          <p:nvPr/>
        </p:nvSpPr>
        <p:spPr>
          <a:xfrm>
            <a:off x="701516" y="3171587"/>
            <a:ext cx="15240" cy="3168848"/>
          </a:xfrm>
          <a:prstGeom prst="roundRect">
            <a:avLst>
              <a:gd name="adj" fmla="val 145397"/>
            </a:avLst>
          </a:prstGeom>
          <a:solidFill>
            <a:srgbClr val="D8D4D4"/>
          </a:solidFill>
          <a:ln/>
        </p:spPr>
      </p:sp>
      <p:sp>
        <p:nvSpPr>
          <p:cNvPr id="6" name="Shape 3"/>
          <p:cNvSpPr/>
          <p:nvPr/>
        </p:nvSpPr>
        <p:spPr>
          <a:xfrm>
            <a:off x="686276" y="3330059"/>
            <a:ext cx="295394" cy="15240"/>
          </a:xfrm>
          <a:prstGeom prst="roundRect">
            <a:avLst>
              <a:gd name="adj" fmla="val 145397"/>
            </a:avLst>
          </a:prstGeom>
          <a:solidFill>
            <a:srgbClr val="D8D4D4"/>
          </a:solidFill>
          <a:ln/>
        </p:spPr>
      </p:sp>
      <p:sp>
        <p:nvSpPr>
          <p:cNvPr id="7" name="Shape 4"/>
          <p:cNvSpPr/>
          <p:nvPr/>
        </p:nvSpPr>
        <p:spPr>
          <a:xfrm>
            <a:off x="646152" y="3282315"/>
            <a:ext cx="110728" cy="110728"/>
          </a:xfrm>
          <a:prstGeom prst="roundRect">
            <a:avLst>
              <a:gd name="adj" fmla="val 412904"/>
            </a:avLst>
          </a:prstGeom>
          <a:solidFill>
            <a:srgbClr val="2D2E34"/>
          </a:solidFill>
          <a:ln/>
        </p:spPr>
      </p:sp>
      <p:sp>
        <p:nvSpPr>
          <p:cNvPr id="8" name="Text 5"/>
          <p:cNvSpPr/>
          <p:nvPr/>
        </p:nvSpPr>
        <p:spPr>
          <a:xfrm>
            <a:off x="1292423" y="3222308"/>
            <a:ext cx="1678662" cy="209788"/>
          </a:xfrm>
          <a:prstGeom prst="rect">
            <a:avLst/>
          </a:prstGeom>
          <a:noFill/>
          <a:ln/>
        </p:spPr>
        <p:txBody>
          <a:bodyPr wrap="none" lIns="0" tIns="0" rIns="0" bIns="0" rtlCol="0" anchor="t"/>
          <a:lstStyle/>
          <a:p>
            <a:pPr marL="0" indent="0" algn="l">
              <a:lnSpc>
                <a:spcPts val="1650"/>
              </a:lnSpc>
              <a:buNone/>
            </a:pPr>
            <a:r>
              <a:rPr lang="en-US" sz="1300" b="1" dirty="0">
                <a:solidFill>
                  <a:srgbClr val="3D3838"/>
                </a:solidFill>
                <a:latin typeface="Times New Roman" panose="02020603050405020304" pitchFamily="18" charset="0"/>
                <a:ea typeface="Montserrat Bold" pitchFamily="34" charset="-122"/>
                <a:cs typeface="Times New Roman" panose="02020603050405020304" pitchFamily="18" charset="0"/>
              </a:rPr>
              <a:t>Квантовий ШІ</a:t>
            </a:r>
            <a:endParaRPr lang="en-US" sz="1300" dirty="0">
              <a:latin typeface="Times New Roman" panose="02020603050405020304" pitchFamily="18" charset="0"/>
              <a:cs typeface="Times New Roman" panose="02020603050405020304" pitchFamily="18" charset="0"/>
            </a:endParaRPr>
          </a:p>
        </p:txBody>
      </p:sp>
      <p:sp>
        <p:nvSpPr>
          <p:cNvPr id="9" name="Text 6"/>
          <p:cNvSpPr/>
          <p:nvPr/>
        </p:nvSpPr>
        <p:spPr>
          <a:xfrm>
            <a:off x="1292423" y="3520678"/>
            <a:ext cx="7260788" cy="221575"/>
          </a:xfrm>
          <a:prstGeom prst="rect">
            <a:avLst/>
          </a:prstGeom>
          <a:noFill/>
          <a:ln/>
        </p:spPr>
        <p:txBody>
          <a:bodyPr wrap="none" lIns="0" tIns="0" rIns="0" bIns="0" rtlCol="0" anchor="t"/>
          <a:lstStyle/>
          <a:p>
            <a:pPr marL="0" indent="0" algn="l">
              <a:lnSpc>
                <a:spcPts val="1700"/>
              </a:lnSpc>
              <a:buNone/>
            </a:pPr>
            <a:r>
              <a:rPr lang="en-US" sz="1150" dirty="0">
                <a:solidFill>
                  <a:srgbClr val="3D3838"/>
                </a:solidFill>
                <a:latin typeface="Times New Roman" panose="02020603050405020304" pitchFamily="18" charset="0"/>
                <a:ea typeface="Source Sans 3" pitchFamily="34" charset="-122"/>
                <a:cs typeface="Times New Roman" panose="02020603050405020304" pitchFamily="18" charset="0"/>
              </a:rPr>
              <a:t>Перші комерційні застосування квантового ШІ для складних обчислень.</a:t>
            </a:r>
            <a:endParaRPr lang="en-US" sz="1150" dirty="0">
              <a:latin typeface="Times New Roman" panose="02020603050405020304" pitchFamily="18" charset="0"/>
              <a:cs typeface="Times New Roman" panose="02020603050405020304" pitchFamily="18" charset="0"/>
            </a:endParaRPr>
          </a:p>
        </p:txBody>
      </p:sp>
      <p:sp>
        <p:nvSpPr>
          <p:cNvPr id="10" name="Shape 7"/>
          <p:cNvSpPr/>
          <p:nvPr/>
        </p:nvSpPr>
        <p:spPr>
          <a:xfrm>
            <a:off x="686276" y="4196120"/>
            <a:ext cx="295394" cy="15240"/>
          </a:xfrm>
          <a:prstGeom prst="roundRect">
            <a:avLst>
              <a:gd name="adj" fmla="val 145397"/>
            </a:avLst>
          </a:prstGeom>
          <a:solidFill>
            <a:srgbClr val="D8D4D4"/>
          </a:solidFill>
          <a:ln/>
        </p:spPr>
      </p:sp>
      <p:sp>
        <p:nvSpPr>
          <p:cNvPr id="11" name="Shape 8"/>
          <p:cNvSpPr/>
          <p:nvPr/>
        </p:nvSpPr>
        <p:spPr>
          <a:xfrm>
            <a:off x="646152" y="4148376"/>
            <a:ext cx="110728" cy="110728"/>
          </a:xfrm>
          <a:prstGeom prst="roundRect">
            <a:avLst>
              <a:gd name="adj" fmla="val 412904"/>
            </a:avLst>
          </a:prstGeom>
          <a:solidFill>
            <a:srgbClr val="2D2E34"/>
          </a:solidFill>
          <a:ln/>
        </p:spPr>
      </p:sp>
      <p:sp>
        <p:nvSpPr>
          <p:cNvPr id="12" name="Text 9"/>
          <p:cNvSpPr/>
          <p:nvPr/>
        </p:nvSpPr>
        <p:spPr>
          <a:xfrm>
            <a:off x="1292423" y="4088368"/>
            <a:ext cx="1678662" cy="209788"/>
          </a:xfrm>
          <a:prstGeom prst="rect">
            <a:avLst/>
          </a:prstGeom>
          <a:noFill/>
          <a:ln/>
        </p:spPr>
        <p:txBody>
          <a:bodyPr wrap="none" lIns="0" tIns="0" rIns="0" bIns="0" rtlCol="0" anchor="t"/>
          <a:lstStyle/>
          <a:p>
            <a:pPr marL="0" indent="0" algn="l">
              <a:lnSpc>
                <a:spcPts val="1650"/>
              </a:lnSpc>
              <a:buNone/>
            </a:pPr>
            <a:r>
              <a:rPr lang="en-US" sz="1300" b="1" dirty="0">
                <a:solidFill>
                  <a:srgbClr val="3D3838"/>
                </a:solidFill>
                <a:latin typeface="Times New Roman" panose="02020603050405020304" pitchFamily="18" charset="0"/>
                <a:ea typeface="Montserrat Bold" pitchFamily="34" charset="-122"/>
                <a:cs typeface="Times New Roman" panose="02020603050405020304" pitchFamily="18" charset="0"/>
              </a:rPr>
              <a:t>Нейроінтерфейси</a:t>
            </a:r>
            <a:endParaRPr lang="en-US" sz="1300" dirty="0">
              <a:latin typeface="Times New Roman" panose="02020603050405020304" pitchFamily="18" charset="0"/>
              <a:cs typeface="Times New Roman" panose="02020603050405020304" pitchFamily="18" charset="0"/>
            </a:endParaRPr>
          </a:p>
        </p:txBody>
      </p:sp>
      <p:sp>
        <p:nvSpPr>
          <p:cNvPr id="13" name="Text 10"/>
          <p:cNvSpPr/>
          <p:nvPr/>
        </p:nvSpPr>
        <p:spPr>
          <a:xfrm>
            <a:off x="1292423" y="4386739"/>
            <a:ext cx="7260788" cy="221575"/>
          </a:xfrm>
          <a:prstGeom prst="rect">
            <a:avLst/>
          </a:prstGeom>
          <a:noFill/>
          <a:ln/>
        </p:spPr>
        <p:txBody>
          <a:bodyPr wrap="none" lIns="0" tIns="0" rIns="0" bIns="0" rtlCol="0" anchor="t"/>
          <a:lstStyle/>
          <a:p>
            <a:pPr marL="0" indent="0" algn="l">
              <a:lnSpc>
                <a:spcPts val="1700"/>
              </a:lnSpc>
              <a:buNone/>
            </a:pPr>
            <a:r>
              <a:rPr lang="en-US" sz="1150" dirty="0">
                <a:solidFill>
                  <a:srgbClr val="3D3838"/>
                </a:solidFill>
                <a:latin typeface="Times New Roman" panose="02020603050405020304" pitchFamily="18" charset="0"/>
                <a:ea typeface="Source Sans 3" pitchFamily="34" charset="-122"/>
                <a:cs typeface="Times New Roman" panose="02020603050405020304" pitchFamily="18" charset="0"/>
              </a:rPr>
              <a:t>Значне покращення мозково-комп'ютерних інтерфейсів та їх інтеграція з ШІ.</a:t>
            </a:r>
            <a:endParaRPr lang="en-US" sz="1150" dirty="0">
              <a:latin typeface="Times New Roman" panose="02020603050405020304" pitchFamily="18" charset="0"/>
              <a:cs typeface="Times New Roman" panose="02020603050405020304" pitchFamily="18" charset="0"/>
            </a:endParaRPr>
          </a:p>
        </p:txBody>
      </p:sp>
      <p:sp>
        <p:nvSpPr>
          <p:cNvPr id="14" name="Shape 11"/>
          <p:cNvSpPr/>
          <p:nvPr/>
        </p:nvSpPr>
        <p:spPr>
          <a:xfrm>
            <a:off x="686276" y="5062180"/>
            <a:ext cx="295394" cy="15240"/>
          </a:xfrm>
          <a:prstGeom prst="roundRect">
            <a:avLst>
              <a:gd name="adj" fmla="val 145397"/>
            </a:avLst>
          </a:prstGeom>
          <a:solidFill>
            <a:srgbClr val="D8D4D4"/>
          </a:solidFill>
          <a:ln/>
        </p:spPr>
      </p:sp>
      <p:sp>
        <p:nvSpPr>
          <p:cNvPr id="15" name="Shape 12"/>
          <p:cNvSpPr/>
          <p:nvPr/>
        </p:nvSpPr>
        <p:spPr>
          <a:xfrm>
            <a:off x="646152" y="5014436"/>
            <a:ext cx="110728" cy="110728"/>
          </a:xfrm>
          <a:prstGeom prst="roundRect">
            <a:avLst>
              <a:gd name="adj" fmla="val 412904"/>
            </a:avLst>
          </a:prstGeom>
          <a:solidFill>
            <a:srgbClr val="2D2E34"/>
          </a:solidFill>
          <a:ln/>
        </p:spPr>
      </p:sp>
      <p:sp>
        <p:nvSpPr>
          <p:cNvPr id="16" name="Text 13"/>
          <p:cNvSpPr/>
          <p:nvPr/>
        </p:nvSpPr>
        <p:spPr>
          <a:xfrm>
            <a:off x="1292423" y="4954429"/>
            <a:ext cx="2371130" cy="209788"/>
          </a:xfrm>
          <a:prstGeom prst="rect">
            <a:avLst/>
          </a:prstGeom>
          <a:noFill/>
          <a:ln/>
        </p:spPr>
        <p:txBody>
          <a:bodyPr wrap="none" lIns="0" tIns="0" rIns="0" bIns="0" rtlCol="0" anchor="t"/>
          <a:lstStyle/>
          <a:p>
            <a:pPr marL="0" indent="0" algn="l">
              <a:lnSpc>
                <a:spcPts val="1650"/>
              </a:lnSpc>
              <a:buNone/>
            </a:pPr>
            <a:r>
              <a:rPr lang="en-US" sz="1300" b="1" dirty="0">
                <a:solidFill>
                  <a:srgbClr val="3D3838"/>
                </a:solidFill>
                <a:latin typeface="Times New Roman" panose="02020603050405020304" pitchFamily="18" charset="0"/>
                <a:ea typeface="Montserrat Bold" pitchFamily="34" charset="-122"/>
                <a:cs typeface="Times New Roman" panose="02020603050405020304" pitchFamily="18" charset="0"/>
              </a:rPr>
              <a:t>Самоорганізуючі системи</a:t>
            </a:r>
            <a:endParaRPr lang="en-US" sz="1300" dirty="0">
              <a:latin typeface="Times New Roman" panose="02020603050405020304" pitchFamily="18" charset="0"/>
              <a:cs typeface="Times New Roman" panose="02020603050405020304" pitchFamily="18" charset="0"/>
            </a:endParaRPr>
          </a:p>
        </p:txBody>
      </p:sp>
      <p:sp>
        <p:nvSpPr>
          <p:cNvPr id="17" name="Text 14"/>
          <p:cNvSpPr/>
          <p:nvPr/>
        </p:nvSpPr>
        <p:spPr>
          <a:xfrm>
            <a:off x="1292423" y="5252799"/>
            <a:ext cx="7260788" cy="221575"/>
          </a:xfrm>
          <a:prstGeom prst="rect">
            <a:avLst/>
          </a:prstGeom>
          <a:noFill/>
          <a:ln/>
        </p:spPr>
        <p:txBody>
          <a:bodyPr wrap="none" lIns="0" tIns="0" rIns="0" bIns="0" rtlCol="0" anchor="t"/>
          <a:lstStyle/>
          <a:p>
            <a:pPr marL="0" indent="0" algn="l">
              <a:lnSpc>
                <a:spcPts val="1700"/>
              </a:lnSpc>
              <a:buNone/>
            </a:pPr>
            <a:r>
              <a:rPr lang="en-US" sz="1150" dirty="0">
                <a:solidFill>
                  <a:srgbClr val="3D3838"/>
                </a:solidFill>
                <a:latin typeface="Times New Roman" panose="02020603050405020304" pitchFamily="18" charset="0"/>
                <a:ea typeface="Source Sans 3" pitchFamily="34" charset="-122"/>
                <a:cs typeface="Times New Roman" panose="02020603050405020304" pitchFamily="18" charset="0"/>
              </a:rPr>
              <a:t>Виникнення повністю автономних, самоорганізуючих ШІ-систем у різних галузях.</a:t>
            </a:r>
            <a:endParaRPr lang="en-US" sz="1150" dirty="0">
              <a:latin typeface="Times New Roman" panose="02020603050405020304" pitchFamily="18" charset="0"/>
              <a:cs typeface="Times New Roman" panose="02020603050405020304" pitchFamily="18" charset="0"/>
            </a:endParaRPr>
          </a:p>
        </p:txBody>
      </p:sp>
      <p:sp>
        <p:nvSpPr>
          <p:cNvPr id="18" name="Shape 15"/>
          <p:cNvSpPr/>
          <p:nvPr/>
        </p:nvSpPr>
        <p:spPr>
          <a:xfrm>
            <a:off x="686276" y="5928241"/>
            <a:ext cx="295394" cy="15240"/>
          </a:xfrm>
          <a:prstGeom prst="roundRect">
            <a:avLst>
              <a:gd name="adj" fmla="val 145397"/>
            </a:avLst>
          </a:prstGeom>
          <a:solidFill>
            <a:srgbClr val="D8D4D4"/>
          </a:solidFill>
          <a:ln/>
        </p:spPr>
      </p:sp>
      <p:sp>
        <p:nvSpPr>
          <p:cNvPr id="19" name="Shape 16"/>
          <p:cNvSpPr/>
          <p:nvPr/>
        </p:nvSpPr>
        <p:spPr>
          <a:xfrm>
            <a:off x="646152" y="5880497"/>
            <a:ext cx="110728" cy="110728"/>
          </a:xfrm>
          <a:prstGeom prst="roundRect">
            <a:avLst>
              <a:gd name="adj" fmla="val 412904"/>
            </a:avLst>
          </a:prstGeom>
          <a:solidFill>
            <a:srgbClr val="2D2E34"/>
          </a:solidFill>
          <a:ln/>
        </p:spPr>
      </p:sp>
      <p:sp>
        <p:nvSpPr>
          <p:cNvPr id="20" name="Text 17"/>
          <p:cNvSpPr/>
          <p:nvPr/>
        </p:nvSpPr>
        <p:spPr>
          <a:xfrm>
            <a:off x="1292423" y="5820489"/>
            <a:ext cx="1678662" cy="209788"/>
          </a:xfrm>
          <a:prstGeom prst="rect">
            <a:avLst/>
          </a:prstGeom>
          <a:noFill/>
          <a:ln/>
        </p:spPr>
        <p:txBody>
          <a:bodyPr wrap="none" lIns="0" tIns="0" rIns="0" bIns="0" rtlCol="0" anchor="t"/>
          <a:lstStyle/>
          <a:p>
            <a:pPr marL="0" indent="0" algn="l">
              <a:lnSpc>
                <a:spcPts val="1650"/>
              </a:lnSpc>
              <a:buNone/>
            </a:pPr>
            <a:r>
              <a:rPr lang="en-US" sz="1300" b="1" dirty="0">
                <a:solidFill>
                  <a:srgbClr val="3D3838"/>
                </a:solidFill>
                <a:latin typeface="Times New Roman" panose="02020603050405020304" pitchFamily="18" charset="0"/>
                <a:ea typeface="Montserrat Bold" pitchFamily="34" charset="-122"/>
                <a:cs typeface="Times New Roman" panose="02020603050405020304" pitchFamily="18" charset="0"/>
              </a:rPr>
              <a:t>ШІ-творці</a:t>
            </a:r>
            <a:endParaRPr lang="en-US" sz="1300" dirty="0">
              <a:latin typeface="Times New Roman" panose="02020603050405020304" pitchFamily="18" charset="0"/>
              <a:cs typeface="Times New Roman" panose="02020603050405020304" pitchFamily="18" charset="0"/>
            </a:endParaRPr>
          </a:p>
        </p:txBody>
      </p:sp>
      <p:sp>
        <p:nvSpPr>
          <p:cNvPr id="21" name="Text 18"/>
          <p:cNvSpPr/>
          <p:nvPr/>
        </p:nvSpPr>
        <p:spPr>
          <a:xfrm>
            <a:off x="1292423" y="6118860"/>
            <a:ext cx="7260788" cy="221575"/>
          </a:xfrm>
          <a:prstGeom prst="rect">
            <a:avLst/>
          </a:prstGeom>
          <a:noFill/>
          <a:ln/>
        </p:spPr>
        <p:txBody>
          <a:bodyPr wrap="none" lIns="0" tIns="0" rIns="0" bIns="0" rtlCol="0" anchor="t"/>
          <a:lstStyle/>
          <a:p>
            <a:pPr marL="0" indent="0" algn="l">
              <a:lnSpc>
                <a:spcPts val="1700"/>
              </a:lnSpc>
              <a:buNone/>
            </a:pPr>
            <a:r>
              <a:rPr lang="en-US" sz="1150" dirty="0">
                <a:solidFill>
                  <a:srgbClr val="3D3838"/>
                </a:solidFill>
                <a:latin typeface="Times New Roman" panose="02020603050405020304" pitchFamily="18" charset="0"/>
                <a:ea typeface="Source Sans 3" pitchFamily="34" charset="-122"/>
                <a:cs typeface="Times New Roman" panose="02020603050405020304" pitchFamily="18" charset="0"/>
              </a:rPr>
              <a:t>Поява ШІ, здатних створювати мистецтво, музику та літературу, що конкурує з людським.</a:t>
            </a:r>
            <a:endParaRPr lang="en-US" sz="1150" dirty="0">
              <a:latin typeface="Times New Roman" panose="02020603050405020304" pitchFamily="18" charset="0"/>
              <a:cs typeface="Times New Roman" panose="02020603050405020304" pitchFamily="18" charset="0"/>
            </a:endParaRPr>
          </a:p>
        </p:txBody>
      </p:sp>
      <p:sp>
        <p:nvSpPr>
          <p:cNvPr id="22" name="Text 19"/>
          <p:cNvSpPr/>
          <p:nvPr/>
        </p:nvSpPr>
        <p:spPr>
          <a:xfrm>
            <a:off x="590788" y="6506528"/>
            <a:ext cx="7962424" cy="443151"/>
          </a:xfrm>
          <a:prstGeom prst="rect">
            <a:avLst/>
          </a:prstGeom>
          <a:noFill/>
          <a:ln/>
        </p:spPr>
        <p:txBody>
          <a:bodyPr wrap="square" lIns="0" tIns="0" rIns="0" bIns="0" rtlCol="0" anchor="t"/>
          <a:lstStyle/>
          <a:p>
            <a:pPr marL="0" indent="0" algn="l">
              <a:lnSpc>
                <a:spcPts val="1700"/>
              </a:lnSpc>
              <a:buNone/>
            </a:pPr>
            <a:r>
              <a:rPr lang="en-US" sz="1150" dirty="0">
                <a:solidFill>
                  <a:srgbClr val="3D3838"/>
                </a:solidFill>
                <a:latin typeface="Times New Roman" panose="02020603050405020304" pitchFamily="18" charset="0"/>
                <a:ea typeface="Source Sans 3" pitchFamily="34" charset="-122"/>
                <a:cs typeface="Times New Roman" panose="02020603050405020304" pitchFamily="18" charset="0"/>
              </a:rPr>
              <a:t>Ці тенденції вказують на те, що 2026 рік може стати роком, коли межі між людським та штучним інтелектом почнуть розмиватися ще швидше, відкриваючи нові горизонти для досліджень та застосувань.</a:t>
            </a:r>
            <a:endParaRPr lang="en-US" sz="11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369457" y="498872"/>
            <a:ext cx="11891486" cy="1027986"/>
          </a:xfrm>
          <a:prstGeom prst="rect">
            <a:avLst/>
          </a:prstGeom>
          <a:noFill/>
          <a:ln/>
        </p:spPr>
        <p:txBody>
          <a:bodyPr wrap="square" lIns="0" tIns="0" rIns="0" bIns="0" rtlCol="0" anchor="t"/>
          <a:lstStyle/>
          <a:p>
            <a:pPr marL="0" indent="0" algn="l">
              <a:lnSpc>
                <a:spcPts val="4000"/>
              </a:lnSpc>
              <a:buNone/>
            </a:pPr>
            <a:r>
              <a:rPr lang="en-US" sz="3200" b="1" dirty="0">
                <a:solidFill>
                  <a:srgbClr val="000000"/>
                </a:solidFill>
                <a:latin typeface="Times New Roman" panose="02020603050405020304" pitchFamily="18" charset="0"/>
                <a:ea typeface="Montserrat Bold" pitchFamily="34" charset="-122"/>
                <a:cs typeface="Times New Roman" panose="02020603050405020304" pitchFamily="18" charset="0"/>
              </a:rPr>
              <a:t>Готуємося до майбутнього: Ключові висновки та кроки для адаптації</a:t>
            </a:r>
            <a:endParaRPr lang="en-US" sz="3200" dirty="0">
              <a:latin typeface="Times New Roman" panose="02020603050405020304" pitchFamily="18" charset="0"/>
              <a:cs typeface="Times New Roman" panose="02020603050405020304" pitchFamily="18" charset="0"/>
            </a:endParaRPr>
          </a:p>
        </p:txBody>
      </p:sp>
      <p:sp>
        <p:nvSpPr>
          <p:cNvPr id="3" name="Text 1"/>
          <p:cNvSpPr/>
          <p:nvPr/>
        </p:nvSpPr>
        <p:spPr>
          <a:xfrm>
            <a:off x="1369457" y="1888688"/>
            <a:ext cx="11891486" cy="542925"/>
          </a:xfrm>
          <a:prstGeom prst="rect">
            <a:avLst/>
          </a:prstGeom>
          <a:noFill/>
          <a:ln/>
        </p:spPr>
        <p:txBody>
          <a:bodyPr wrap="square" lIns="0" tIns="0" rIns="0" bIns="0" rtlCol="0" anchor="t"/>
          <a:lstStyle/>
          <a:p>
            <a:pPr marL="0" indent="0" algn="l">
              <a:lnSpc>
                <a:spcPts val="2100"/>
              </a:lnSpc>
              <a:buNone/>
            </a:pPr>
            <a:r>
              <a:rPr lang="en-US" sz="1400" dirty="0">
                <a:solidFill>
                  <a:srgbClr val="3D3838"/>
                </a:solidFill>
                <a:latin typeface="Times New Roman" panose="02020603050405020304" pitchFamily="18" charset="0"/>
                <a:ea typeface="Source Sans 3" pitchFamily="34" charset="-122"/>
                <a:cs typeface="Times New Roman" panose="02020603050405020304" pitchFamily="18" charset="0"/>
              </a:rPr>
              <a:t>Майбутнє зі штучним інтелектом наближається стрімко, і 2026 рік обіцяє бути роком значних змін. Щоб успішно адаптуватися до цієї нової реальності, необхідно вжити рішучих кроків.</a:t>
            </a:r>
            <a:endParaRPr lang="en-US" sz="1400" dirty="0">
              <a:latin typeface="Times New Roman" panose="02020603050405020304" pitchFamily="18" charset="0"/>
              <a:cs typeface="Times New Roman" panose="02020603050405020304" pitchFamily="18" charset="0"/>
            </a:endParaRPr>
          </a:p>
        </p:txBody>
      </p:sp>
      <p:sp>
        <p:nvSpPr>
          <p:cNvPr id="4" name="Shape 2"/>
          <p:cNvSpPr/>
          <p:nvPr/>
        </p:nvSpPr>
        <p:spPr>
          <a:xfrm>
            <a:off x="1640800" y="3087410"/>
            <a:ext cx="5583793" cy="180856"/>
          </a:xfrm>
          <a:prstGeom prst="roundRect">
            <a:avLst>
              <a:gd name="adj" fmla="val 15009"/>
            </a:avLst>
          </a:prstGeom>
          <a:solidFill>
            <a:srgbClr val="F2EEEE"/>
          </a:solidFill>
          <a:ln/>
        </p:spPr>
      </p:sp>
      <p:sp>
        <p:nvSpPr>
          <p:cNvPr id="5" name="Shape 3"/>
          <p:cNvSpPr/>
          <p:nvPr/>
        </p:nvSpPr>
        <p:spPr>
          <a:xfrm>
            <a:off x="1369457" y="2906375"/>
            <a:ext cx="542806" cy="542806"/>
          </a:xfrm>
          <a:prstGeom prst="roundRect">
            <a:avLst>
              <a:gd name="adj" fmla="val 84229"/>
            </a:avLst>
          </a:prstGeom>
          <a:solidFill>
            <a:srgbClr val="F2EEEE"/>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05188" y="3042106"/>
            <a:ext cx="271343" cy="271343"/>
          </a:xfrm>
          <a:prstGeom prst="rect">
            <a:avLst/>
          </a:prstGeom>
        </p:spPr>
      </p:pic>
      <p:sp>
        <p:nvSpPr>
          <p:cNvPr id="7" name="Text 4"/>
          <p:cNvSpPr/>
          <p:nvPr/>
        </p:nvSpPr>
        <p:spPr>
          <a:xfrm>
            <a:off x="1550313" y="3630097"/>
            <a:ext cx="2613660" cy="256937"/>
          </a:xfrm>
          <a:prstGeom prst="rect">
            <a:avLst/>
          </a:prstGeom>
          <a:noFill/>
          <a:ln/>
        </p:spPr>
        <p:txBody>
          <a:bodyPr wrap="none" lIns="0" tIns="0" rIns="0" bIns="0" rtlCol="0" anchor="t"/>
          <a:lstStyle/>
          <a:p>
            <a:pPr marL="0" indent="0" algn="l">
              <a:lnSpc>
                <a:spcPts val="2000"/>
              </a:lnSpc>
              <a:buNone/>
            </a:pPr>
            <a:r>
              <a:rPr lang="en-US" sz="1600" b="1" dirty="0">
                <a:solidFill>
                  <a:srgbClr val="3D3838"/>
                </a:solidFill>
                <a:latin typeface="Times New Roman" panose="02020603050405020304" pitchFamily="18" charset="0"/>
                <a:ea typeface="Montserrat Bold" pitchFamily="34" charset="-122"/>
                <a:cs typeface="Times New Roman" panose="02020603050405020304" pitchFamily="18" charset="0"/>
              </a:rPr>
              <a:t>Безперервне навчання</a:t>
            </a:r>
            <a:endParaRPr lang="en-US" sz="1600" dirty="0">
              <a:latin typeface="Times New Roman" panose="02020603050405020304" pitchFamily="18" charset="0"/>
              <a:cs typeface="Times New Roman" panose="02020603050405020304" pitchFamily="18" charset="0"/>
            </a:endParaRPr>
          </a:p>
        </p:txBody>
      </p:sp>
      <p:sp>
        <p:nvSpPr>
          <p:cNvPr id="8" name="Text 5"/>
          <p:cNvSpPr/>
          <p:nvPr/>
        </p:nvSpPr>
        <p:spPr>
          <a:xfrm>
            <a:off x="1550313" y="3995499"/>
            <a:ext cx="5493544" cy="542925"/>
          </a:xfrm>
          <a:prstGeom prst="rect">
            <a:avLst/>
          </a:prstGeom>
          <a:noFill/>
          <a:ln/>
        </p:spPr>
        <p:txBody>
          <a:bodyPr wrap="square" lIns="0" tIns="0" rIns="0" bIns="0" rtlCol="0" anchor="t"/>
          <a:lstStyle/>
          <a:p>
            <a:pPr marL="0" indent="0" algn="l">
              <a:lnSpc>
                <a:spcPts val="2100"/>
              </a:lnSpc>
              <a:buNone/>
            </a:pPr>
            <a:r>
              <a:rPr lang="en-US" sz="1400" dirty="0">
                <a:solidFill>
                  <a:srgbClr val="3D3838"/>
                </a:solidFill>
                <a:latin typeface="Times New Roman" panose="02020603050405020304" pitchFamily="18" charset="0"/>
                <a:ea typeface="Source Sans 3" pitchFamily="34" charset="-122"/>
                <a:cs typeface="Times New Roman" panose="02020603050405020304" pitchFamily="18" charset="0"/>
              </a:rPr>
              <a:t>Інвестуйте в освіту та розвиток нових навичок, особливо в галузі ШІ та суміжних технологій.</a:t>
            </a:r>
            <a:endParaRPr lang="en-US" sz="1400" dirty="0">
              <a:latin typeface="Times New Roman" panose="02020603050405020304" pitchFamily="18" charset="0"/>
              <a:cs typeface="Times New Roman" panose="02020603050405020304" pitchFamily="18" charset="0"/>
            </a:endParaRPr>
          </a:p>
        </p:txBody>
      </p:sp>
      <p:sp>
        <p:nvSpPr>
          <p:cNvPr id="9" name="Shape 6"/>
          <p:cNvSpPr/>
          <p:nvPr/>
        </p:nvSpPr>
        <p:spPr>
          <a:xfrm>
            <a:off x="7676912" y="2816066"/>
            <a:ext cx="5583912" cy="180856"/>
          </a:xfrm>
          <a:prstGeom prst="roundRect">
            <a:avLst>
              <a:gd name="adj" fmla="val 15009"/>
            </a:avLst>
          </a:prstGeom>
          <a:solidFill>
            <a:srgbClr val="F2EEEE"/>
          </a:solidFill>
          <a:ln/>
        </p:spPr>
      </p:sp>
      <p:sp>
        <p:nvSpPr>
          <p:cNvPr id="10" name="Shape 7"/>
          <p:cNvSpPr/>
          <p:nvPr/>
        </p:nvSpPr>
        <p:spPr>
          <a:xfrm>
            <a:off x="7405568" y="2635032"/>
            <a:ext cx="542806" cy="542806"/>
          </a:xfrm>
          <a:prstGeom prst="roundRect">
            <a:avLst>
              <a:gd name="adj" fmla="val 84229"/>
            </a:avLst>
          </a:prstGeom>
          <a:solidFill>
            <a:srgbClr val="F2EEEE"/>
          </a:solidFill>
          <a:ln/>
        </p:spPr>
      </p:sp>
      <p:pic>
        <p:nvPicPr>
          <p:cNvPr id="11" name="Image 1"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7541300" y="2770763"/>
            <a:ext cx="271343" cy="271343"/>
          </a:xfrm>
          <a:prstGeom prst="rect">
            <a:avLst/>
          </a:prstGeom>
        </p:spPr>
      </p:pic>
      <p:sp>
        <p:nvSpPr>
          <p:cNvPr id="12" name="Text 8"/>
          <p:cNvSpPr/>
          <p:nvPr/>
        </p:nvSpPr>
        <p:spPr>
          <a:xfrm>
            <a:off x="7586424" y="3358753"/>
            <a:ext cx="2056328" cy="256937"/>
          </a:xfrm>
          <a:prstGeom prst="rect">
            <a:avLst/>
          </a:prstGeom>
          <a:noFill/>
          <a:ln/>
        </p:spPr>
        <p:txBody>
          <a:bodyPr wrap="none" lIns="0" tIns="0" rIns="0" bIns="0" rtlCol="0" anchor="t"/>
          <a:lstStyle/>
          <a:p>
            <a:pPr marL="0" indent="0" algn="l">
              <a:lnSpc>
                <a:spcPts val="2000"/>
              </a:lnSpc>
              <a:buNone/>
            </a:pPr>
            <a:r>
              <a:rPr lang="en-US" sz="1600" b="1" dirty="0">
                <a:solidFill>
                  <a:srgbClr val="3D3838"/>
                </a:solidFill>
                <a:latin typeface="Times New Roman" panose="02020603050405020304" pitchFamily="18" charset="0"/>
                <a:ea typeface="Montserrat Bold" pitchFamily="34" charset="-122"/>
                <a:cs typeface="Times New Roman" panose="02020603050405020304" pitchFamily="18" charset="0"/>
              </a:rPr>
              <a:t>Етичний розвиток</a:t>
            </a:r>
            <a:endParaRPr lang="en-US" sz="1600" dirty="0">
              <a:latin typeface="Times New Roman" panose="02020603050405020304" pitchFamily="18" charset="0"/>
              <a:cs typeface="Times New Roman" panose="02020603050405020304" pitchFamily="18" charset="0"/>
            </a:endParaRPr>
          </a:p>
        </p:txBody>
      </p:sp>
      <p:sp>
        <p:nvSpPr>
          <p:cNvPr id="13" name="Text 9"/>
          <p:cNvSpPr/>
          <p:nvPr/>
        </p:nvSpPr>
        <p:spPr>
          <a:xfrm>
            <a:off x="7586424" y="3724156"/>
            <a:ext cx="5493663" cy="542925"/>
          </a:xfrm>
          <a:prstGeom prst="rect">
            <a:avLst/>
          </a:prstGeom>
          <a:noFill/>
          <a:ln/>
        </p:spPr>
        <p:txBody>
          <a:bodyPr wrap="square" lIns="0" tIns="0" rIns="0" bIns="0" rtlCol="0" anchor="t"/>
          <a:lstStyle/>
          <a:p>
            <a:pPr marL="0" indent="0" algn="l">
              <a:lnSpc>
                <a:spcPts val="2100"/>
              </a:lnSpc>
              <a:buNone/>
            </a:pPr>
            <a:r>
              <a:rPr lang="en-US" sz="1400" dirty="0">
                <a:solidFill>
                  <a:srgbClr val="3D3838"/>
                </a:solidFill>
                <a:latin typeface="Times New Roman" panose="02020603050405020304" pitchFamily="18" charset="0"/>
                <a:ea typeface="Source Sans 3" pitchFamily="34" charset="-122"/>
                <a:cs typeface="Times New Roman" panose="02020603050405020304" pitchFamily="18" charset="0"/>
              </a:rPr>
              <a:t>Підтримуйте розробку та впровадження етичних норм та регуляторних механізмів для ШІ.</a:t>
            </a:r>
            <a:endParaRPr lang="en-US" sz="1400" dirty="0">
              <a:latin typeface="Times New Roman" panose="02020603050405020304" pitchFamily="18" charset="0"/>
              <a:cs typeface="Times New Roman" panose="02020603050405020304" pitchFamily="18" charset="0"/>
            </a:endParaRPr>
          </a:p>
        </p:txBody>
      </p:sp>
      <p:sp>
        <p:nvSpPr>
          <p:cNvPr id="14" name="Shape 10"/>
          <p:cNvSpPr/>
          <p:nvPr/>
        </p:nvSpPr>
        <p:spPr>
          <a:xfrm>
            <a:off x="1640800" y="5352455"/>
            <a:ext cx="5583793" cy="180856"/>
          </a:xfrm>
          <a:prstGeom prst="roundRect">
            <a:avLst>
              <a:gd name="adj" fmla="val 15009"/>
            </a:avLst>
          </a:prstGeom>
          <a:solidFill>
            <a:srgbClr val="F2EEEE"/>
          </a:solidFill>
          <a:ln/>
        </p:spPr>
      </p:sp>
      <p:sp>
        <p:nvSpPr>
          <p:cNvPr id="15" name="Shape 11"/>
          <p:cNvSpPr/>
          <p:nvPr/>
        </p:nvSpPr>
        <p:spPr>
          <a:xfrm>
            <a:off x="1369457" y="5171420"/>
            <a:ext cx="542806" cy="542806"/>
          </a:xfrm>
          <a:prstGeom prst="roundRect">
            <a:avLst>
              <a:gd name="adj" fmla="val 84229"/>
            </a:avLst>
          </a:prstGeom>
          <a:solidFill>
            <a:srgbClr val="F2EEEE"/>
          </a:solidFill>
          <a:ln/>
        </p:spPr>
      </p:sp>
      <p:pic>
        <p:nvPicPr>
          <p:cNvPr id="16" name="Image 2" descr="preencoded.png"/>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1505188" y="5307151"/>
            <a:ext cx="271343" cy="271343"/>
          </a:xfrm>
          <a:prstGeom prst="rect">
            <a:avLst/>
          </a:prstGeom>
        </p:spPr>
      </p:pic>
      <p:sp>
        <p:nvSpPr>
          <p:cNvPr id="17" name="Text 12"/>
          <p:cNvSpPr/>
          <p:nvPr/>
        </p:nvSpPr>
        <p:spPr>
          <a:xfrm>
            <a:off x="1550313" y="5895142"/>
            <a:ext cx="2887147" cy="256937"/>
          </a:xfrm>
          <a:prstGeom prst="rect">
            <a:avLst/>
          </a:prstGeom>
          <a:noFill/>
          <a:ln/>
        </p:spPr>
        <p:txBody>
          <a:bodyPr wrap="none" lIns="0" tIns="0" rIns="0" bIns="0" rtlCol="0" anchor="t"/>
          <a:lstStyle/>
          <a:p>
            <a:pPr marL="0" indent="0" algn="l">
              <a:lnSpc>
                <a:spcPts val="2000"/>
              </a:lnSpc>
              <a:buNone/>
            </a:pPr>
            <a:r>
              <a:rPr lang="en-US" sz="1600" b="1" dirty="0">
                <a:solidFill>
                  <a:srgbClr val="3D3838"/>
                </a:solidFill>
                <a:latin typeface="Times New Roman" panose="02020603050405020304" pitchFamily="18" charset="0"/>
                <a:ea typeface="Montserrat Bold" pitchFamily="34" charset="-122"/>
                <a:cs typeface="Times New Roman" panose="02020603050405020304" pitchFamily="18" charset="0"/>
              </a:rPr>
              <a:t>Гнучкість та адаптивність</a:t>
            </a:r>
            <a:endParaRPr lang="en-US" sz="1600" dirty="0">
              <a:latin typeface="Times New Roman" panose="02020603050405020304" pitchFamily="18" charset="0"/>
              <a:cs typeface="Times New Roman" panose="02020603050405020304" pitchFamily="18" charset="0"/>
            </a:endParaRPr>
          </a:p>
        </p:txBody>
      </p:sp>
      <p:sp>
        <p:nvSpPr>
          <p:cNvPr id="18" name="Text 13"/>
          <p:cNvSpPr/>
          <p:nvPr/>
        </p:nvSpPr>
        <p:spPr>
          <a:xfrm>
            <a:off x="1550313" y="6260544"/>
            <a:ext cx="5493544" cy="542925"/>
          </a:xfrm>
          <a:prstGeom prst="rect">
            <a:avLst/>
          </a:prstGeom>
          <a:noFill/>
          <a:ln/>
        </p:spPr>
        <p:txBody>
          <a:bodyPr wrap="square" lIns="0" tIns="0" rIns="0" bIns="0" rtlCol="0" anchor="t"/>
          <a:lstStyle/>
          <a:p>
            <a:pPr marL="0" indent="0" algn="l">
              <a:lnSpc>
                <a:spcPts val="2100"/>
              </a:lnSpc>
              <a:buNone/>
            </a:pPr>
            <a:r>
              <a:rPr lang="en-US" sz="1400" dirty="0">
                <a:solidFill>
                  <a:srgbClr val="3D3838"/>
                </a:solidFill>
                <a:latin typeface="Times New Roman" panose="02020603050405020304" pitchFamily="18" charset="0"/>
                <a:ea typeface="Source Sans 3" pitchFamily="34" charset="-122"/>
                <a:cs typeface="Times New Roman" panose="02020603050405020304" pitchFamily="18" charset="0"/>
              </a:rPr>
              <a:t>Будьте готові до швидких змін у кар'єрі та бізнесі, шукайте нові можливості.</a:t>
            </a:r>
            <a:endParaRPr lang="en-US" sz="1400" dirty="0">
              <a:latin typeface="Times New Roman" panose="02020603050405020304" pitchFamily="18" charset="0"/>
              <a:cs typeface="Times New Roman" panose="02020603050405020304" pitchFamily="18" charset="0"/>
            </a:endParaRPr>
          </a:p>
        </p:txBody>
      </p:sp>
      <p:sp>
        <p:nvSpPr>
          <p:cNvPr id="19" name="Shape 14"/>
          <p:cNvSpPr/>
          <p:nvPr/>
        </p:nvSpPr>
        <p:spPr>
          <a:xfrm>
            <a:off x="7676912" y="5081111"/>
            <a:ext cx="5583912" cy="180856"/>
          </a:xfrm>
          <a:prstGeom prst="roundRect">
            <a:avLst>
              <a:gd name="adj" fmla="val 15009"/>
            </a:avLst>
          </a:prstGeom>
          <a:solidFill>
            <a:srgbClr val="F2EEEE"/>
          </a:solidFill>
          <a:ln/>
        </p:spPr>
      </p:sp>
      <p:sp>
        <p:nvSpPr>
          <p:cNvPr id="20" name="Shape 15"/>
          <p:cNvSpPr/>
          <p:nvPr/>
        </p:nvSpPr>
        <p:spPr>
          <a:xfrm>
            <a:off x="7405568" y="4900077"/>
            <a:ext cx="542806" cy="542806"/>
          </a:xfrm>
          <a:prstGeom prst="roundRect">
            <a:avLst>
              <a:gd name="adj" fmla="val 84229"/>
            </a:avLst>
          </a:prstGeom>
          <a:solidFill>
            <a:srgbClr val="F2EEEE"/>
          </a:solidFill>
          <a:ln/>
        </p:spPr>
      </p:sp>
      <p:pic>
        <p:nvPicPr>
          <p:cNvPr id="21" name="Image 3" descr="preencoded.png"/>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7541300" y="5035808"/>
            <a:ext cx="271343" cy="271343"/>
          </a:xfrm>
          <a:prstGeom prst="rect">
            <a:avLst/>
          </a:prstGeom>
        </p:spPr>
      </p:pic>
      <p:sp>
        <p:nvSpPr>
          <p:cNvPr id="22" name="Text 16"/>
          <p:cNvSpPr/>
          <p:nvPr/>
        </p:nvSpPr>
        <p:spPr>
          <a:xfrm>
            <a:off x="7586424" y="5623798"/>
            <a:ext cx="2056328" cy="256937"/>
          </a:xfrm>
          <a:prstGeom prst="rect">
            <a:avLst/>
          </a:prstGeom>
          <a:noFill/>
          <a:ln/>
        </p:spPr>
        <p:txBody>
          <a:bodyPr wrap="none" lIns="0" tIns="0" rIns="0" bIns="0" rtlCol="0" anchor="t"/>
          <a:lstStyle/>
          <a:p>
            <a:pPr marL="0" indent="0" algn="l">
              <a:lnSpc>
                <a:spcPts val="2000"/>
              </a:lnSpc>
              <a:buNone/>
            </a:pPr>
            <a:r>
              <a:rPr lang="en-US" sz="1600" b="1" dirty="0">
                <a:solidFill>
                  <a:srgbClr val="3D3838"/>
                </a:solidFill>
                <a:latin typeface="Times New Roman" panose="02020603050405020304" pitchFamily="18" charset="0"/>
                <a:ea typeface="Montserrat Bold" pitchFamily="34" charset="-122"/>
                <a:cs typeface="Times New Roman" panose="02020603050405020304" pitchFamily="18" charset="0"/>
              </a:rPr>
              <a:t>Співпраця</a:t>
            </a:r>
            <a:endParaRPr lang="en-US" sz="1600" dirty="0">
              <a:latin typeface="Times New Roman" panose="02020603050405020304" pitchFamily="18" charset="0"/>
              <a:cs typeface="Times New Roman" panose="02020603050405020304" pitchFamily="18" charset="0"/>
            </a:endParaRPr>
          </a:p>
        </p:txBody>
      </p:sp>
      <p:sp>
        <p:nvSpPr>
          <p:cNvPr id="23" name="Text 17"/>
          <p:cNvSpPr/>
          <p:nvPr/>
        </p:nvSpPr>
        <p:spPr>
          <a:xfrm>
            <a:off x="7586424" y="5989201"/>
            <a:ext cx="5493663" cy="542925"/>
          </a:xfrm>
          <a:prstGeom prst="rect">
            <a:avLst/>
          </a:prstGeom>
          <a:noFill/>
          <a:ln/>
        </p:spPr>
        <p:txBody>
          <a:bodyPr wrap="square" lIns="0" tIns="0" rIns="0" bIns="0" rtlCol="0" anchor="t"/>
          <a:lstStyle/>
          <a:p>
            <a:pPr marL="0" indent="0" algn="l">
              <a:lnSpc>
                <a:spcPts val="2100"/>
              </a:lnSpc>
              <a:buNone/>
            </a:pPr>
            <a:r>
              <a:rPr lang="en-US" sz="1400" dirty="0">
                <a:solidFill>
                  <a:srgbClr val="3D3838"/>
                </a:solidFill>
                <a:latin typeface="Times New Roman" panose="02020603050405020304" pitchFamily="18" charset="0"/>
                <a:ea typeface="Source Sans 3" pitchFamily="34" charset="-122"/>
                <a:cs typeface="Times New Roman" panose="02020603050405020304" pitchFamily="18" charset="0"/>
              </a:rPr>
              <a:t>Розбудовуйте мережі співпраці між людьми та ШІ, щоб використовувати переваги обох.</a:t>
            </a:r>
            <a:endParaRPr lang="en-US" sz="1400" dirty="0">
              <a:latin typeface="Times New Roman" panose="02020603050405020304" pitchFamily="18" charset="0"/>
              <a:cs typeface="Times New Roman" panose="02020603050405020304" pitchFamily="18" charset="0"/>
            </a:endParaRPr>
          </a:p>
        </p:txBody>
      </p:sp>
      <p:sp>
        <p:nvSpPr>
          <p:cNvPr id="24" name="Text 18"/>
          <p:cNvSpPr/>
          <p:nvPr/>
        </p:nvSpPr>
        <p:spPr>
          <a:xfrm>
            <a:off x="1369457" y="7187803"/>
            <a:ext cx="11891486" cy="542925"/>
          </a:xfrm>
          <a:prstGeom prst="rect">
            <a:avLst/>
          </a:prstGeom>
          <a:noFill/>
          <a:ln/>
        </p:spPr>
        <p:txBody>
          <a:bodyPr wrap="square" lIns="0" tIns="0" rIns="0" bIns="0" rtlCol="0" anchor="t"/>
          <a:lstStyle/>
          <a:p>
            <a:pPr marL="0" indent="0" algn="l">
              <a:lnSpc>
                <a:spcPts val="2100"/>
              </a:lnSpc>
              <a:buNone/>
            </a:pPr>
            <a:r>
              <a:rPr lang="en-US" sz="1400" dirty="0">
                <a:solidFill>
                  <a:srgbClr val="3D3838"/>
                </a:solidFill>
                <a:latin typeface="Times New Roman" panose="02020603050405020304" pitchFamily="18" charset="0"/>
                <a:ea typeface="Source Sans 3" pitchFamily="34" charset="-122"/>
                <a:cs typeface="Times New Roman" panose="02020603050405020304" pitchFamily="18" charset="0"/>
              </a:rPr>
              <a:t>ШІ – це не просто технологія, це рушійна сила, яка переформатує наш світ. Готуючись до цього майбутнього, ми можемо не лише вижити, а й процвітати, створюючи більш розумне та ефективне суспільство.</a:t>
            </a:r>
            <a:endParaRPr lang="en-US" sz="1400" dirty="0">
              <a:latin typeface="Times New Roman" panose="02020603050405020304" pitchFamily="18" charset="0"/>
              <a:cs typeface="Times New Roman" panose="02020603050405020304" pitchFamily="18" charset="0"/>
            </a:endParaRPr>
          </a:p>
        </p:txBody>
      </p:sp>
      <p:pic>
        <p:nvPicPr>
          <p:cNvPr id="25" name="Рисунок 24">
            <a:extLst>
              <a:ext uri="{FF2B5EF4-FFF2-40B4-BE49-F238E27FC236}">
                <a16:creationId xmlns:a16="http://schemas.microsoft.com/office/drawing/2014/main" id="{A7306225-6F27-47A1-BE78-100671E81781}"/>
              </a:ext>
            </a:extLst>
          </p:cNvPr>
          <p:cNvPicPr>
            <a:picLocks noChangeAspect="1"/>
          </p:cNvPicPr>
          <p:nvPr/>
        </p:nvPicPr>
        <p:blipFill>
          <a:blip r:embed="rId8"/>
          <a:stretch>
            <a:fillRect/>
          </a:stretch>
        </p:blipFill>
        <p:spPr>
          <a:xfrm>
            <a:off x="12502901" y="7772360"/>
            <a:ext cx="2095682" cy="4572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Офіс">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Офіс">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1245</Words>
  <Application>Microsoft Office PowerPoint</Application>
  <PresentationFormat>Довільний</PresentationFormat>
  <Paragraphs>106</Paragraphs>
  <Slides>10</Slides>
  <Notes>10</Notes>
  <HiddenSlides>0</HiddenSlides>
  <MMClips>0</MMClips>
  <ScaleCrop>false</ScaleCrop>
  <HeadingPairs>
    <vt:vector size="6" baseType="variant">
      <vt:variant>
        <vt:lpstr>Використані шрифти</vt:lpstr>
      </vt:variant>
      <vt:variant>
        <vt:i4>3</vt:i4>
      </vt:variant>
      <vt:variant>
        <vt:lpstr>Тема</vt:lpstr>
      </vt:variant>
      <vt:variant>
        <vt:i4>1</vt:i4>
      </vt:variant>
      <vt:variant>
        <vt:lpstr>Заголовки слайдів</vt:lpstr>
      </vt:variant>
      <vt:variant>
        <vt:i4>10</vt:i4>
      </vt:variant>
    </vt:vector>
  </HeadingPairs>
  <TitlesOfParts>
    <vt:vector size="14" baseType="lpstr">
      <vt:lpstr>Arial</vt:lpstr>
      <vt:lpstr>Times New Roman</vt:lpstr>
      <vt:lpstr>Calibri</vt:lpstr>
      <vt:lpstr>Office Theme</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Презентація PowerPoint</dc:title>
  <dc:subject/>
  <dc:creator/>
  <cp:lastModifiedBy>User</cp:lastModifiedBy>
  <cp:revision>2</cp:revision>
  <dcterms:created xsi:type="dcterms:W3CDTF">2026-01-20T19:54:45Z</dcterms:created>
  <dcterms:modified xsi:type="dcterms:W3CDTF">2026-01-21T07:06:38Z</dcterms:modified>
</cp:coreProperties>
</file>